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If you're new to packaging engineering or AI, don't worry. In just 8 short slides, we're going to explain how BriefForge works in plain English. At its heart, BriefForge solves a huge headache in the retail world: turning messy, scattered starting files into a complete, legally compliant packaging design brief with an interactive 3D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problem: when a brand wants to update a package, they don't start from scratch. They have an old PDF proof, a recipe spreadsheet from R&amp;D, and marketing emails. These files often contradict each other—like having 1% honey in the PDF and 9% in Excel. Humans miss these discrepancies, and when millions of boxes are printed with illegal claims or wrong allergens, it costs tens of thousands of dollars to fix.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people think 'just throw ChatGPT at it'. But packaging is an engineering problem. Chatbots hallucinate, they fail at basic packaging math, and they can't understand spatial fold lines. BriefForge uses AI for reading and understanding documents, but uses strict, deterministic mathematical rules to check compliance. We call this 'Neuro-Symbolic' AI—smart perception plus unbreakable rules.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system architecture in 4 simple steps: Step 1: READ—it ingests whatever files you have, whether it's a PDF, Excel, Word, or photo. Step 2: CONNECT—it builds a unified FactStore and checks compliance. Step 3: ASK—instead of making things up when files disagree, it asks the human user a clear multiple-choice question. Step 4: DELIVER—it instantly outputs the 3D carton, 2D dieline, and official handover 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real consumer goods company, a packaging brief must be approved by legal, printing, design, and sustainability teams. We built a 'Packaging Council'—four AI personas acting as virtual department heads. The lawyer checks FDA food law, the printer checks dielines and barcodes, the designer protects the brand look, and the eco-engineer checks recyclability. Each gives a score out of 100 before anything is approved.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briefs shouldn't just be static documents. BriefForge includes an interactive 3D WebGL simulator. You can drag with your mouse to rotate the 3D carton 360 degrees. With one click, you can toggle between the original defective proof and the remediated carton. You also get a 2D mechanical dieline inspector with glowing pins marking every problem area.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made sure BriefForge isn't just a hardcoded demo. It features zero-shot dynamic generality: whether you upload the benchmark granola files, a JPEG packaging photo of Lay's Potato Chips, or a Word spec for organic coffee beans—BriefForge automatically extracts the brand, checks compliance, updates the 3D model, and generates a tailored brief.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BriefForge turns what used to take weeks of frustrating back-and-forth into seconds. It achieves a 98% handover readiness score, prevents an estimated 6 rework loops, saves over $45,000 per packaging SKU, and exports everything in 5 industry-standard formats including genuine Microsoft Word documents and native Esko XML. It is fast, trustworthy, visually verified, and ready to use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822960"/>
            <a:ext cx="10728655" cy="521208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188720"/>
            <a:ext cx="10058400" cy="4480560"/>
          </a:xfrm>
          <a:prstGeom prst="rect">
            <a:avLst/>
          </a:prstGeom>
          <a:noFill/>
        </p:spPr>
        <p:txBody>
          <a:bodyPr wrap="square">
            <a:spAutoFit/>
          </a:bodyPr>
          <a:lstStyle/>
          <a:p>
            <a:pPr>
              <a:defRPr sz="1100" b="1">
                <a:solidFill>
                  <a:srgbClr val="38BDF8"/>
                </a:solidFill>
              </a:defRPr>
            </a:pPr>
            <a:r>
              <a:t>ESKO AI HACKATHON • SIMPLIFIED ARCHITECTURE REVIEW</a:t>
            </a:r>
          </a:p>
          <a:p>
            <a:pPr>
              <a:spcBef>
                <a:spcPts val="800"/>
              </a:spcBef>
              <a:defRPr sz="4600" b="1">
                <a:solidFill>
                  <a:srgbClr val="FFFFFF"/>
                </a:solidFill>
              </a:defRPr>
            </a:pPr>
            <a:r>
              <a:t>BriefForge</a:t>
            </a:r>
          </a:p>
          <a:p>
            <a:pPr>
              <a:spcBef>
                <a:spcPts val="400"/>
              </a:spcBef>
              <a:defRPr sz="2000" b="1">
                <a:solidFill>
                  <a:srgbClr val="38BDF8"/>
                </a:solidFill>
              </a:defRPr>
            </a:pPr>
            <a:r>
              <a:t>Smart AI That Turns Messy Packaging Files Into a Perfect Design Brief</a:t>
            </a:r>
          </a:p>
          <a:p>
            <a:pPr>
              <a:spcBef>
                <a:spcPts val="1600"/>
              </a:spcBef>
              <a:defRPr sz="1300">
                <a:solidFill>
                  <a:srgbClr val="FFFFFF"/>
                </a:solidFill>
              </a:defRPr>
            </a:pPr>
            <a:r>
              <a:t>Think of BriefForge as an intelligent proofreader and traffic controller for consumer packaging:</a:t>
            </a:r>
            <a:br/>
            <a:r>
              <a:t>• It takes scattered PDFs, Excel recipe sheets, and photos.</a:t>
            </a:r>
            <a:br/>
            <a:r>
              <a:t>• Finds hidden mistakes and legal violations before anything goes to print.</a:t>
            </a:r>
            <a:br/>
            <a:r>
              <a:t>• Shows you the packaging in an interactive 3D box you can spin with your mouse.</a:t>
            </a:r>
            <a:br/>
            <a:r>
              <a:t>• Creates an official, agency-ready Design Brief in 1 click.</a:t>
            </a:r>
          </a:p>
          <a:p>
            <a:pPr>
              <a:spcBef>
                <a:spcPts val="2800"/>
              </a:spcBef>
              <a:defRPr sz="1200" b="1">
                <a:solidFill>
                  <a:srgbClr val="10B981"/>
                </a:solidFill>
              </a:defRPr>
            </a:pPr>
            <a:r>
              <a:t>🚀 Live Web App: https://briefforge.streamlit.app/   |   📦 GitHub: github.com/sblprateek/briefforge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868680"/>
          </a:xfrm>
          <a:prstGeom prst="rect">
            <a:avLst/>
          </a:prstGeom>
          <a:noFill/>
        </p:spPr>
        <p:txBody>
          <a:bodyPr wrap="square">
            <a:spAutoFit/>
          </a:bodyPr>
          <a:lstStyle/>
          <a:p>
            <a:pPr>
              <a:defRPr sz="1000" b="1">
                <a:solidFill>
                  <a:srgbClr val="38BDF8"/>
                </a:solidFill>
              </a:defRPr>
            </a:pPr>
            <a:r>
              <a:t>SLIDE 2 OF 8  •  BRIEFFORGE ARCHITECTURE SIMPLIFIED</a:t>
            </a:r>
          </a:p>
          <a:p>
            <a:pPr>
              <a:spcBef>
                <a:spcPts val="300"/>
              </a:spcBef>
              <a:defRPr sz="2200" b="1">
                <a:solidFill>
                  <a:srgbClr val="FFFFFF"/>
                </a:solidFill>
              </a:defRPr>
            </a:pPr>
            <a:r>
              <a:t>The Everyday Problem: Why Making Packaging Is A Mess</a:t>
            </a:r>
          </a:p>
          <a:p>
            <a:pPr>
              <a:spcBef>
                <a:spcPts val="200"/>
              </a:spcBef>
              <a:defRPr sz="1200">
                <a:solidFill>
                  <a:srgbClr val="94A3B8"/>
                </a:solidFill>
              </a:defRPr>
            </a:pPr>
            <a:r>
              <a:t>Before a box of cereal or bag of chips hits grocery shelves, information is scattered everywhere.</a:t>
            </a:r>
          </a:p>
        </p:txBody>
      </p:sp>
      <p:sp>
        <p:nvSpPr>
          <p:cNvPr id="3" name="Rounded Rectangle 2"/>
          <p:cNvSpPr/>
          <p:nvPr/>
        </p:nvSpPr>
        <p:spPr>
          <a:xfrm>
            <a:off x="731520" y="1645920"/>
            <a:ext cx="33832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3108960" cy="4114800"/>
          </a:xfrm>
          <a:prstGeom prst="rect">
            <a:avLst/>
          </a:prstGeom>
          <a:noFill/>
        </p:spPr>
        <p:txBody>
          <a:bodyPr wrap="square">
            <a:spAutoFit/>
          </a:bodyPr>
          <a:lstStyle/>
          <a:p>
            <a:pPr>
              <a:defRPr sz="1700" b="1">
                <a:solidFill>
                  <a:srgbClr val="38BDF8"/>
                </a:solidFill>
              </a:defRPr>
            </a:pPr>
            <a:r>
              <a:t>📁 Scattered Files</a:t>
            </a:r>
          </a:p>
          <a:p>
            <a:pPr>
              <a:spcBef>
                <a:spcPts val="400"/>
              </a:spcBef>
              <a:defRPr sz="1200" b="1">
                <a:solidFill>
                  <a:srgbClr val="FFFFFF"/>
                </a:solidFill>
              </a:defRPr>
            </a:pPr>
            <a:r>
              <a:t>The Info is Everywhere</a:t>
            </a:r>
          </a:p>
          <a:p>
            <a:pPr>
              <a:spcBef>
                <a:spcPts val="1200"/>
              </a:spcBef>
              <a:defRPr sz="1200">
                <a:solidFill>
                  <a:srgbClr val="94A3B8"/>
                </a:solidFill>
              </a:defRPr>
            </a:pPr>
            <a:r>
              <a:t>• Recipe is in an Excel spreadsheet from the kitchen.</a:t>
            </a:r>
            <a:br/>
            <a:r>
              <a:t>• Artwork is in an old PDF proof from an agency.</a:t>
            </a:r>
            <a:br/>
            <a:r>
              <a:t>• Marketing notes are in an email chain.</a:t>
            </a:r>
            <a:br/>
            <a:r>
              <a:t>• Nobody has one single source of truth.</a:t>
            </a:r>
          </a:p>
        </p:txBody>
      </p:sp>
      <p:sp>
        <p:nvSpPr>
          <p:cNvPr id="5" name="Rounded Rectangle 4"/>
          <p:cNvSpPr/>
          <p:nvPr/>
        </p:nvSpPr>
        <p:spPr>
          <a:xfrm>
            <a:off x="4389120" y="1645920"/>
            <a:ext cx="3383280" cy="4480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26280" y="1828800"/>
            <a:ext cx="3108960" cy="4114800"/>
          </a:xfrm>
          <a:prstGeom prst="rect">
            <a:avLst/>
          </a:prstGeom>
          <a:noFill/>
        </p:spPr>
        <p:txBody>
          <a:bodyPr wrap="square">
            <a:spAutoFit/>
          </a:bodyPr>
          <a:lstStyle/>
          <a:p>
            <a:pPr>
              <a:defRPr sz="1700" b="1">
                <a:solidFill>
                  <a:srgbClr val="EF4444"/>
                </a:solidFill>
              </a:defRPr>
            </a:pPr>
            <a:r>
              <a:t>⚠️ Silent Mistakes</a:t>
            </a:r>
          </a:p>
          <a:p>
            <a:pPr>
              <a:spcBef>
                <a:spcPts val="400"/>
              </a:spcBef>
              <a:defRPr sz="1200" b="1">
                <a:solidFill>
                  <a:srgbClr val="FFFFFF"/>
                </a:solidFill>
              </a:defRPr>
            </a:pPr>
            <a:r>
              <a:t>Disagreements Slip Through</a:t>
            </a:r>
          </a:p>
          <a:p>
            <a:pPr>
              <a:spcBef>
                <a:spcPts val="1200"/>
              </a:spcBef>
              <a:defRPr sz="1200">
                <a:solidFill>
                  <a:srgbClr val="94A3B8"/>
                </a:solidFill>
              </a:defRPr>
            </a:pPr>
            <a:r>
              <a:t>• Honey is listed as 1% on the box, but 9% in Excel!</a:t>
            </a:r>
            <a:br/>
            <a:r>
              <a:t>• Box says 'No Added Sugar', but honey is pure sugar (illegal!).</a:t>
            </a:r>
            <a:br/>
            <a:r>
              <a:t>• Allergen warnings are formatted incorrectly under FDA law.</a:t>
            </a:r>
          </a:p>
        </p:txBody>
      </p:sp>
      <p:sp>
        <p:nvSpPr>
          <p:cNvPr id="7" name="Rounded Rectangle 6"/>
          <p:cNvSpPr/>
          <p:nvPr/>
        </p:nvSpPr>
        <p:spPr>
          <a:xfrm>
            <a:off x="8046720" y="1645920"/>
            <a:ext cx="338328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80" y="1828800"/>
            <a:ext cx="3108960" cy="4114800"/>
          </a:xfrm>
          <a:prstGeom prst="rect">
            <a:avLst/>
          </a:prstGeom>
          <a:noFill/>
        </p:spPr>
        <p:txBody>
          <a:bodyPr wrap="square">
            <a:spAutoFit/>
          </a:bodyPr>
          <a:lstStyle/>
          <a:p>
            <a:pPr>
              <a:defRPr sz="1700" b="1">
                <a:solidFill>
                  <a:srgbClr val="F59E0B"/>
                </a:solidFill>
              </a:defRPr>
            </a:pPr>
            <a:r>
              <a:t>💸 Huge Waste</a:t>
            </a:r>
          </a:p>
          <a:p>
            <a:pPr>
              <a:spcBef>
                <a:spcPts val="400"/>
              </a:spcBef>
              <a:defRPr sz="1200" b="1">
                <a:solidFill>
                  <a:srgbClr val="FFFFFF"/>
                </a:solidFill>
              </a:defRPr>
            </a:pPr>
            <a:r>
              <a:t>Mistakes Cost Fortunes</a:t>
            </a:r>
          </a:p>
          <a:p>
            <a:pPr>
              <a:spcBef>
                <a:spcPts val="1200"/>
              </a:spcBef>
              <a:defRPr sz="1200">
                <a:solidFill>
                  <a:srgbClr val="94A3B8"/>
                </a:solidFill>
              </a:defRPr>
            </a:pPr>
            <a:r>
              <a:t>• When mistakes are caught late, printing plates must be remade.</a:t>
            </a:r>
            <a:br/>
            <a:r>
              <a:t>• Costs $30,000+ per error and 4 to 8 weeks of delay.</a:t>
            </a:r>
            <a:br/>
            <a:r>
              <a:t>• If printed wrong, products get recalled from store shelves.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868680"/>
          </a:xfrm>
          <a:prstGeom prst="rect">
            <a:avLst/>
          </a:prstGeom>
          <a:noFill/>
        </p:spPr>
        <p:txBody>
          <a:bodyPr wrap="square">
            <a:spAutoFit/>
          </a:bodyPr>
          <a:lstStyle/>
          <a:p>
            <a:pPr>
              <a:defRPr sz="1000" b="1">
                <a:solidFill>
                  <a:srgbClr val="38BDF8"/>
                </a:solidFill>
              </a:defRPr>
            </a:pPr>
            <a:r>
              <a:t>SLIDE 3 OF 8  •  BRIEFFORGE ARCHITECTURE SIMPLIFIED</a:t>
            </a:r>
          </a:p>
          <a:p>
            <a:pPr>
              <a:spcBef>
                <a:spcPts val="300"/>
              </a:spcBef>
              <a:defRPr sz="2200" b="1">
                <a:solidFill>
                  <a:srgbClr val="FFFFFF"/>
                </a:solidFill>
              </a:defRPr>
            </a:pPr>
            <a:r>
              <a:t>Why We Didn't Just Build A Chatbot (Like ChatGPT)</a:t>
            </a:r>
          </a:p>
          <a:p>
            <a:pPr>
              <a:spcBef>
                <a:spcPts val="200"/>
              </a:spcBef>
              <a:defRPr sz="1200">
                <a:solidFill>
                  <a:srgbClr val="94A3B8"/>
                </a:solidFill>
              </a:defRPr>
            </a:pPr>
            <a:r>
              <a:t>Packaging requires real-world physics, strict food laws, and math—chatbots make things up.</a:t>
            </a:r>
          </a:p>
        </p:txBody>
      </p:sp>
      <p:sp>
        <p:nvSpPr>
          <p:cNvPr id="3" name="Rounded Rectangle 2"/>
          <p:cNvSpPr/>
          <p:nvPr/>
        </p:nvSpPr>
        <p:spPr>
          <a:xfrm>
            <a:off x="731520" y="1645920"/>
            <a:ext cx="5120640" cy="448056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20240"/>
            <a:ext cx="4572000" cy="3931920"/>
          </a:xfrm>
          <a:prstGeom prst="rect">
            <a:avLst/>
          </a:prstGeom>
          <a:noFill/>
        </p:spPr>
        <p:txBody>
          <a:bodyPr wrap="square">
            <a:spAutoFit/>
          </a:bodyPr>
          <a:lstStyle/>
          <a:p>
            <a:pPr>
              <a:defRPr sz="1800" b="1">
                <a:solidFill>
                  <a:srgbClr val="EF4444"/>
                </a:solidFill>
              </a:defRPr>
            </a:pPr>
            <a:r>
              <a:t>❌ Why Chatbots Fail at Packaging</a:t>
            </a:r>
          </a:p>
          <a:p>
            <a:br/>
            <a:pPr>
              <a:defRPr sz="1250">
                <a:solidFill>
                  <a:srgbClr val="FFFFFF"/>
                </a:solidFill>
              </a:defRPr>
            </a:pPr>
            <a:r>
              <a:t>• They Hallucinate: A chatbot might invent food regulations that don't exist. On a food box, that causes lawsuits!</a:t>
            </a:r>
            <a:br/>
            <a:br/>
            <a:r>
              <a:t>• Bad at Packaging Math: If a box weighs 480g and has 8 servings, each serving MUST be 60g (480 ÷ 8). Chatbots often get this wrong.</a:t>
            </a:r>
            <a:br/>
            <a:br/>
            <a:r>
              <a:t>• Blind to Physics: Chatbots don't know where fold lines, glue flaps, or barcodes are physically located on a box.</a:t>
            </a:r>
            <a:br/>
            <a:br/>
            <a:r>
              <a:t>• Zero Proof: You can't tell which document or spreadsheet cell it got its facts from.</a:t>
            </a:r>
          </a:p>
        </p:txBody>
      </p:sp>
      <p:sp>
        <p:nvSpPr>
          <p:cNvPr id="5" name="Rounded Rectangle 4"/>
          <p:cNvSpPr/>
          <p:nvPr/>
        </p:nvSpPr>
        <p:spPr>
          <a:xfrm>
            <a:off x="6217920" y="1645920"/>
            <a:ext cx="512064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920240"/>
            <a:ext cx="4572000" cy="3931920"/>
          </a:xfrm>
          <a:prstGeom prst="rect">
            <a:avLst/>
          </a:prstGeom>
          <a:noFill/>
        </p:spPr>
        <p:txBody>
          <a:bodyPr wrap="square">
            <a:spAutoFit/>
          </a:bodyPr>
          <a:lstStyle/>
          <a:p>
            <a:pPr>
              <a:defRPr sz="1800" b="1">
                <a:solidFill>
                  <a:srgbClr val="10B981"/>
                </a:solidFill>
              </a:defRPr>
            </a:pPr>
            <a:r>
              <a:t>✅ The BriefForge Way: AI + Strict Rules</a:t>
            </a:r>
          </a:p>
          <a:p>
            <a:br/>
            <a:pPr>
              <a:defRPr sz="1250">
                <a:solidFill>
                  <a:srgbClr val="FFFFFF"/>
                </a:solidFill>
              </a:defRPr>
            </a:pPr>
            <a:r>
              <a:t>• Smart AI to Read: We use AI for reading messy documents, spotting text, and understanding pack photos.</a:t>
            </a:r>
            <a:br/>
            <a:br/>
            <a:r>
              <a:t>• Strict Rules to Check: We use hardcoded law &amp; math rules to verify everything. No guessing. No hallucinations.</a:t>
            </a:r>
            <a:br/>
            <a:br/>
            <a:r>
              <a:t>• 100% Evidence: Every single fact tags its source (e.g. 'Found in Excel Row 26, Cell B26').</a:t>
            </a:r>
            <a:br/>
            <a:br/>
            <a:r>
              <a:t>• Real 3D Physics: We render a real 3D carton in WebGL so you can inspect every fold line with your own eyes.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868680"/>
          </a:xfrm>
          <a:prstGeom prst="rect">
            <a:avLst/>
          </a:prstGeom>
          <a:noFill/>
        </p:spPr>
        <p:txBody>
          <a:bodyPr wrap="square">
            <a:spAutoFit/>
          </a:bodyPr>
          <a:lstStyle/>
          <a:p>
            <a:pPr>
              <a:defRPr sz="1000" b="1">
                <a:solidFill>
                  <a:srgbClr val="38BDF8"/>
                </a:solidFill>
              </a:defRPr>
            </a:pPr>
            <a:r>
              <a:t>SLIDE 4 OF 8  •  BRIEFFORGE ARCHITECTURE SIMPLIFIED</a:t>
            </a:r>
          </a:p>
          <a:p>
            <a:pPr>
              <a:spcBef>
                <a:spcPts val="300"/>
              </a:spcBef>
              <a:defRPr sz="2200" b="1">
                <a:solidFill>
                  <a:srgbClr val="FFFFFF"/>
                </a:solidFill>
              </a:defRPr>
            </a:pPr>
            <a:r>
              <a:t>The 4-Step Architecture: How BriefForge Works</a:t>
            </a:r>
          </a:p>
          <a:p>
            <a:pPr>
              <a:spcBef>
                <a:spcPts val="200"/>
              </a:spcBef>
              <a:defRPr sz="1200">
                <a:solidFill>
                  <a:srgbClr val="94A3B8"/>
                </a:solidFill>
              </a:defRPr>
            </a:pPr>
            <a:r>
              <a:t>From messy upload to verified 3D brief in four simple, automated steps.</a:t>
            </a:r>
          </a:p>
        </p:txBody>
      </p:sp>
      <p:sp>
        <p:nvSpPr>
          <p:cNvPr id="3" name="Rounded Rectangle 2"/>
          <p:cNvSpPr/>
          <p:nvPr/>
        </p:nvSpPr>
        <p:spPr>
          <a:xfrm>
            <a:off x="731520" y="1645920"/>
            <a:ext cx="256032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1828800"/>
            <a:ext cx="2340864" cy="4114800"/>
          </a:xfrm>
          <a:prstGeom prst="rect">
            <a:avLst/>
          </a:prstGeom>
          <a:noFill/>
        </p:spPr>
        <p:txBody>
          <a:bodyPr wrap="square">
            <a:spAutoFit/>
          </a:bodyPr>
          <a:lstStyle/>
          <a:p>
            <a:pPr>
              <a:defRPr sz="1500" b="1">
                <a:solidFill>
                  <a:srgbClr val="38BDF8"/>
                </a:solidFill>
              </a:defRPr>
            </a:pPr>
            <a:r>
              <a:t>Step 1: READ</a:t>
            </a:r>
          </a:p>
          <a:p>
            <a:pPr>
              <a:spcBef>
                <a:spcPts val="300"/>
              </a:spcBef>
              <a:defRPr sz="1200" b="1">
                <a:solidFill>
                  <a:srgbClr val="FFFFFF"/>
                </a:solidFill>
              </a:defRPr>
            </a:pPr>
            <a:r>
              <a:t>Multi-File Ingestion</a:t>
            </a:r>
          </a:p>
          <a:p>
            <a:pPr>
              <a:spcBef>
                <a:spcPts val="1000"/>
              </a:spcBef>
              <a:defRPr sz="1150">
                <a:solidFill>
                  <a:srgbClr val="94A3B8"/>
                </a:solidFill>
              </a:defRPr>
            </a:pPr>
            <a:r>
              <a:t>You drop in your files:</a:t>
            </a:r>
            <a:br/>
            <a:r>
              <a:t>• Artwork PDF</a:t>
            </a:r>
            <a:br/>
            <a:r>
              <a:t>• Recipe Excel sheet</a:t>
            </a:r>
            <a:br/>
            <a:r>
              <a:t>• Word document or Photo</a:t>
            </a:r>
            <a:br/>
            <a:br/>
            <a:r>
              <a:t>AI reads every page, table, and panel coordinate.</a:t>
            </a:r>
          </a:p>
        </p:txBody>
      </p:sp>
      <p:sp>
        <p:nvSpPr>
          <p:cNvPr id="5" name="Rounded Rectangle 4"/>
          <p:cNvSpPr/>
          <p:nvPr/>
        </p:nvSpPr>
        <p:spPr>
          <a:xfrm>
            <a:off x="3429000" y="1645920"/>
            <a:ext cx="2560320" cy="448056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38728" y="1828800"/>
            <a:ext cx="2340864" cy="4114800"/>
          </a:xfrm>
          <a:prstGeom prst="rect">
            <a:avLst/>
          </a:prstGeom>
          <a:noFill/>
        </p:spPr>
        <p:txBody>
          <a:bodyPr wrap="square">
            <a:spAutoFit/>
          </a:bodyPr>
          <a:lstStyle/>
          <a:p>
            <a:pPr>
              <a:defRPr sz="1500" b="1">
                <a:solidFill>
                  <a:srgbClr val="2563EB"/>
                </a:solidFill>
              </a:defRPr>
            </a:pPr>
            <a:r>
              <a:t>Step 2: CONNECT</a:t>
            </a:r>
          </a:p>
          <a:p>
            <a:pPr>
              <a:spcBef>
                <a:spcPts val="300"/>
              </a:spcBef>
              <a:defRPr sz="1200" b="1">
                <a:solidFill>
                  <a:srgbClr val="FFFFFF"/>
                </a:solidFill>
              </a:defRPr>
            </a:pPr>
            <a:r>
              <a:t>FactStore &amp; Checking</a:t>
            </a:r>
          </a:p>
          <a:p>
            <a:pPr>
              <a:spcBef>
                <a:spcPts val="1000"/>
              </a:spcBef>
              <a:defRPr sz="1150">
                <a:solidFill>
                  <a:srgbClr val="94A3B8"/>
                </a:solidFill>
              </a:defRPr>
            </a:pPr>
            <a:r>
              <a:t>It connects the dots:</a:t>
            </a:r>
            <a:br/>
            <a:r>
              <a:t>• Groups all facts together</a:t>
            </a:r>
            <a:br/>
            <a:r>
              <a:t>• Compares files against each other</a:t>
            </a:r>
            <a:br/>
            <a:r>
              <a:t>• Checks strict FDA food laws &amp; allergen rules.</a:t>
            </a:r>
          </a:p>
        </p:txBody>
      </p:sp>
      <p:sp>
        <p:nvSpPr>
          <p:cNvPr id="7" name="Rounded Rectangle 6"/>
          <p:cNvSpPr/>
          <p:nvPr/>
        </p:nvSpPr>
        <p:spPr>
          <a:xfrm>
            <a:off x="6126480" y="1645920"/>
            <a:ext cx="256032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1828800"/>
            <a:ext cx="2340864" cy="4114800"/>
          </a:xfrm>
          <a:prstGeom prst="rect">
            <a:avLst/>
          </a:prstGeom>
          <a:noFill/>
        </p:spPr>
        <p:txBody>
          <a:bodyPr wrap="square">
            <a:spAutoFit/>
          </a:bodyPr>
          <a:lstStyle/>
          <a:p>
            <a:pPr>
              <a:defRPr sz="1500" b="1">
                <a:solidFill>
                  <a:srgbClr val="F59E0B"/>
                </a:solidFill>
              </a:defRPr>
            </a:pPr>
            <a:r>
              <a:t>Step 3: ASK</a:t>
            </a:r>
          </a:p>
          <a:p>
            <a:pPr>
              <a:spcBef>
                <a:spcPts val="300"/>
              </a:spcBef>
              <a:defRPr sz="1200" b="1">
                <a:solidFill>
                  <a:srgbClr val="FFFFFF"/>
                </a:solidFill>
              </a:defRPr>
            </a:pPr>
            <a:r>
              <a:t>Human Decision Center</a:t>
            </a:r>
          </a:p>
          <a:p>
            <a:pPr>
              <a:spcBef>
                <a:spcPts val="1000"/>
              </a:spcBef>
              <a:defRPr sz="1150">
                <a:solidFill>
                  <a:srgbClr val="94A3B8"/>
                </a:solidFill>
              </a:defRPr>
            </a:pPr>
            <a:r>
              <a:t>When files disagree, it doesn't guess! It asks you:</a:t>
            </a:r>
            <a:br/>
            <a:r>
              <a:t>'Artwork says 1% Honey, Excel says 9%. Which recipe is right?'</a:t>
            </a:r>
            <a:br/>
            <a:r>
              <a:t>You click, it saves.</a:t>
            </a:r>
          </a:p>
        </p:txBody>
      </p:sp>
      <p:sp>
        <p:nvSpPr>
          <p:cNvPr id="9" name="Rounded Rectangle 8"/>
          <p:cNvSpPr/>
          <p:nvPr/>
        </p:nvSpPr>
        <p:spPr>
          <a:xfrm>
            <a:off x="8823960" y="1645920"/>
            <a:ext cx="256032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33688" y="1828800"/>
            <a:ext cx="2340864" cy="4114800"/>
          </a:xfrm>
          <a:prstGeom prst="rect">
            <a:avLst/>
          </a:prstGeom>
          <a:noFill/>
        </p:spPr>
        <p:txBody>
          <a:bodyPr wrap="square">
            <a:spAutoFit/>
          </a:bodyPr>
          <a:lstStyle/>
          <a:p>
            <a:pPr>
              <a:defRPr sz="1500" b="1">
                <a:solidFill>
                  <a:srgbClr val="10B981"/>
                </a:solidFill>
              </a:defRPr>
            </a:pPr>
            <a:r>
              <a:t>Step 4: DELIVER</a:t>
            </a:r>
          </a:p>
          <a:p>
            <a:pPr>
              <a:spcBef>
                <a:spcPts val="300"/>
              </a:spcBef>
              <a:defRPr sz="1200" b="1">
                <a:solidFill>
                  <a:srgbClr val="FFFFFF"/>
                </a:solidFill>
              </a:defRPr>
            </a:pPr>
            <a:r>
              <a:t>3D WebGL &amp; Brief Suite</a:t>
            </a:r>
          </a:p>
          <a:p>
            <a:pPr>
              <a:spcBef>
                <a:spcPts val="1000"/>
              </a:spcBef>
              <a:defRPr sz="1150">
                <a:solidFill>
                  <a:srgbClr val="94A3B8"/>
                </a:solidFill>
              </a:defRPr>
            </a:pPr>
            <a:r>
              <a:t>It generates:</a:t>
            </a:r>
            <a:br/>
            <a:r>
              <a:t>• 3D interactive carton you can spin</a:t>
            </a:r>
            <a:br/>
            <a:r>
              <a:t>• 2D dieline net with defect pins</a:t>
            </a:r>
            <a:br/>
            <a:r>
              <a:t>• Agency Word doc (.docx), print HTML, and Esko XML.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868680"/>
          </a:xfrm>
          <a:prstGeom prst="rect">
            <a:avLst/>
          </a:prstGeom>
          <a:noFill/>
        </p:spPr>
        <p:txBody>
          <a:bodyPr wrap="square">
            <a:spAutoFit/>
          </a:bodyPr>
          <a:lstStyle/>
          <a:p>
            <a:pPr>
              <a:defRPr sz="1000" b="1">
                <a:solidFill>
                  <a:srgbClr val="38BDF8"/>
                </a:solidFill>
              </a:defRPr>
            </a:pPr>
            <a:r>
              <a:t>SLIDE 5 OF 8  •  BRIEFFORGE ARCHITECTURE SIMPLIFIED</a:t>
            </a:r>
          </a:p>
          <a:p>
            <a:pPr>
              <a:spcBef>
                <a:spcPts val="300"/>
              </a:spcBef>
              <a:defRPr sz="2200" b="1">
                <a:solidFill>
                  <a:srgbClr val="FFFFFF"/>
                </a:solidFill>
              </a:defRPr>
            </a:pPr>
            <a:r>
              <a:t>The Packaging Council: 4 AI Experts Auditing Your Box</a:t>
            </a:r>
          </a:p>
          <a:p>
            <a:pPr>
              <a:spcBef>
                <a:spcPts val="200"/>
              </a:spcBef>
              <a:defRPr sz="1200">
                <a:solidFill>
                  <a:srgbClr val="94A3B8"/>
                </a:solidFill>
              </a:defRPr>
            </a:pPr>
            <a:r>
              <a:t>Packaging has multiple bosses. BriefForge simulates an expert review board to check every angle.</a:t>
            </a:r>
          </a:p>
        </p:txBody>
      </p:sp>
      <p:sp>
        <p:nvSpPr>
          <p:cNvPr id="3" name="Rounded Rectangle 2"/>
          <p:cNvSpPr/>
          <p:nvPr/>
        </p:nvSpPr>
        <p:spPr>
          <a:xfrm>
            <a:off x="731520" y="1645920"/>
            <a:ext cx="5212080" cy="210312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755648"/>
            <a:ext cx="4937760" cy="1874519"/>
          </a:xfrm>
          <a:prstGeom prst="rect">
            <a:avLst/>
          </a:prstGeom>
          <a:noFill/>
        </p:spPr>
        <p:txBody>
          <a:bodyPr wrap="square">
            <a:spAutoFit/>
          </a:bodyPr>
          <a:lstStyle/>
          <a:p>
            <a:pPr>
              <a:defRPr sz="1400" b="1">
                <a:solidFill>
                  <a:srgbClr val="EF4444"/>
                </a:solidFill>
              </a:defRPr>
            </a:pPr>
            <a:r>
              <a:t>🧑‍⚖️ The Food Lawyer  (Dr. Evelyn Reed, JD)</a:t>
            </a:r>
          </a:p>
          <a:p>
            <a:pPr>
              <a:spcBef>
                <a:spcPts val="600"/>
              </a:spcBef>
              <a:defRPr sz="1150">
                <a:solidFill>
                  <a:srgbClr val="FFFFFF"/>
                </a:solidFill>
              </a:defRPr>
            </a:pPr>
            <a:r>
              <a:t>Checks FDA regulations, nutrition facts math, and allergen laws.</a:t>
            </a:r>
            <a:br/>
            <a:r>
              <a:t>Catches illegal claims like 'No Added Sugar' when honey is present.</a:t>
            </a:r>
          </a:p>
        </p:txBody>
      </p:sp>
      <p:sp>
        <p:nvSpPr>
          <p:cNvPr id="5" name="Rounded Rectangle 4"/>
          <p:cNvSpPr/>
          <p:nvPr/>
        </p:nvSpPr>
        <p:spPr>
          <a:xfrm>
            <a:off x="6172200" y="1645920"/>
            <a:ext cx="5212080" cy="2103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55648"/>
            <a:ext cx="4937760" cy="1874519"/>
          </a:xfrm>
          <a:prstGeom prst="rect">
            <a:avLst/>
          </a:prstGeom>
          <a:noFill/>
        </p:spPr>
        <p:txBody>
          <a:bodyPr wrap="square">
            <a:spAutoFit/>
          </a:bodyPr>
          <a:lstStyle/>
          <a:p>
            <a:pPr>
              <a:defRPr sz="1400" b="1">
                <a:solidFill>
                  <a:srgbClr val="F59E0B"/>
                </a:solidFill>
              </a:defRPr>
            </a:pPr>
            <a:r>
              <a:t>🏭 The Pre-Press Printer  (Marcus Vance)</a:t>
            </a:r>
          </a:p>
          <a:p>
            <a:pPr>
              <a:spcBef>
                <a:spcPts val="600"/>
              </a:spcBef>
              <a:defRPr sz="1150">
                <a:solidFill>
                  <a:srgbClr val="FFFFFF"/>
                </a:solidFill>
              </a:defRPr>
            </a:pPr>
            <a:r>
              <a:t>Checks physical fold scores, glue flaps, and barcode quiet zones.</a:t>
            </a:r>
            <a:br/>
            <a:r>
              <a:t>Makes sure non-printing dieline guide text doesn't ruin expensive print plates.</a:t>
            </a:r>
          </a:p>
        </p:txBody>
      </p:sp>
      <p:sp>
        <p:nvSpPr>
          <p:cNvPr id="7" name="Rounded Rectangle 6"/>
          <p:cNvSpPr/>
          <p:nvPr/>
        </p:nvSpPr>
        <p:spPr>
          <a:xfrm>
            <a:off x="731520" y="3931920"/>
            <a:ext cx="5212080" cy="21031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41648"/>
            <a:ext cx="4937760" cy="1874519"/>
          </a:xfrm>
          <a:prstGeom prst="rect">
            <a:avLst/>
          </a:prstGeom>
          <a:noFill/>
        </p:spPr>
        <p:txBody>
          <a:bodyPr wrap="square">
            <a:spAutoFit/>
          </a:bodyPr>
          <a:lstStyle/>
          <a:p>
            <a:pPr>
              <a:defRPr sz="1400" b="1">
                <a:solidFill>
                  <a:srgbClr val="2563EB"/>
                </a:solidFill>
              </a:defRPr>
            </a:pPr>
            <a:r>
              <a:t>🎨 The Creative Director  (Sophia Chen)</a:t>
            </a:r>
          </a:p>
          <a:p>
            <a:pPr>
              <a:spcBef>
                <a:spcPts val="600"/>
              </a:spcBef>
              <a:defRPr sz="1150">
                <a:solidFill>
                  <a:srgbClr val="FFFFFF"/>
                </a:solidFill>
              </a:defRPr>
            </a:pPr>
            <a:r>
              <a:t>Guards the brand logos, fonts, and visual storytelling.</a:t>
            </a:r>
            <a:br/>
            <a:r>
              <a:t>Makes sure required disclaimers ('Serving Suggestion') don't ruin the packaging art.</a:t>
            </a:r>
          </a:p>
        </p:txBody>
      </p:sp>
      <p:sp>
        <p:nvSpPr>
          <p:cNvPr id="9" name="Rounded Rectangle 8"/>
          <p:cNvSpPr/>
          <p:nvPr/>
        </p:nvSpPr>
        <p:spPr>
          <a:xfrm>
            <a:off x="6172200" y="3931920"/>
            <a:ext cx="5212080" cy="2103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4041648"/>
            <a:ext cx="4937760" cy="1874519"/>
          </a:xfrm>
          <a:prstGeom prst="rect">
            <a:avLst/>
          </a:prstGeom>
          <a:noFill/>
        </p:spPr>
        <p:txBody>
          <a:bodyPr wrap="square">
            <a:spAutoFit/>
          </a:bodyPr>
          <a:lstStyle/>
          <a:p>
            <a:pPr>
              <a:defRPr sz="1400" b="1">
                <a:solidFill>
                  <a:srgbClr val="10B981"/>
                </a:solidFill>
              </a:defRPr>
            </a:pPr>
            <a:r>
              <a:t>🌿 The Eco-Engineer  (Liam O'Connor)</a:t>
            </a:r>
          </a:p>
          <a:p>
            <a:pPr>
              <a:spcBef>
                <a:spcPts val="600"/>
              </a:spcBef>
              <a:defRPr sz="1150">
                <a:solidFill>
                  <a:srgbClr val="FFFFFF"/>
                </a:solidFill>
              </a:defRPr>
            </a:pPr>
            <a:r>
              <a:t>Checks sustainable materials: FSC-certified paperboard and recyclable coatings.</a:t>
            </a:r>
            <a:br/>
            <a:r>
              <a:t>Ensures the box is curbside recyclable for consumer trust.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868680"/>
          </a:xfrm>
          <a:prstGeom prst="rect">
            <a:avLst/>
          </a:prstGeom>
          <a:noFill/>
        </p:spPr>
        <p:txBody>
          <a:bodyPr wrap="square">
            <a:spAutoFit/>
          </a:bodyPr>
          <a:lstStyle/>
          <a:p>
            <a:pPr>
              <a:defRPr sz="1000" b="1">
                <a:solidFill>
                  <a:srgbClr val="38BDF8"/>
                </a:solidFill>
              </a:defRPr>
            </a:pPr>
            <a:r>
              <a:t>SLIDE 6 OF 8  •  BRIEFFORGE ARCHITECTURE SIMPLIFIED</a:t>
            </a:r>
          </a:p>
          <a:p>
            <a:pPr>
              <a:spcBef>
                <a:spcPts val="300"/>
              </a:spcBef>
              <a:defRPr sz="2200" b="1">
                <a:solidFill>
                  <a:srgbClr val="FFFFFF"/>
                </a:solidFill>
              </a:defRPr>
            </a:pPr>
            <a:r>
              <a:t>Seeing Is Believing: Interactive 3D Carton &amp; 2D Dieline Net</a:t>
            </a:r>
          </a:p>
          <a:p>
            <a:pPr>
              <a:spcBef>
                <a:spcPts val="200"/>
              </a:spcBef>
              <a:defRPr sz="1200">
                <a:solidFill>
                  <a:srgbClr val="94A3B8"/>
                </a:solidFill>
              </a:defRPr>
            </a:pPr>
            <a:r>
              <a:t>Don't just read a flat text brief—see and inspect the actual physical package in your browser.</a:t>
            </a:r>
          </a:p>
        </p:txBody>
      </p:sp>
      <p:sp>
        <p:nvSpPr>
          <p:cNvPr id="3" name="Rounded Rectangle 2"/>
          <p:cNvSpPr/>
          <p:nvPr/>
        </p:nvSpPr>
        <p:spPr>
          <a:xfrm>
            <a:off x="731520" y="1645920"/>
            <a:ext cx="5120640" cy="448056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920240"/>
            <a:ext cx="4572000" cy="3931920"/>
          </a:xfrm>
          <a:prstGeom prst="rect">
            <a:avLst/>
          </a:prstGeom>
          <a:noFill/>
        </p:spPr>
        <p:txBody>
          <a:bodyPr wrap="square">
            <a:spAutoFit/>
          </a:bodyPr>
          <a:lstStyle/>
          <a:p>
            <a:pPr>
              <a:defRPr sz="1800" b="1">
                <a:solidFill>
                  <a:srgbClr val="2563EB"/>
                </a:solidFill>
              </a:defRPr>
            </a:pPr>
            <a:r>
              <a:t>📦 Real-Time 3D WebGL Carton</a:t>
            </a:r>
          </a:p>
          <a:p>
            <a:br/>
            <a:pPr>
              <a:defRPr sz="1200">
                <a:solidFill>
                  <a:srgbClr val="FFFFFF"/>
                </a:solidFill>
              </a:defRPr>
            </a:pPr>
            <a:r>
              <a:t>• 360° Mouse Orbit: Spin the 3D folded carton around in real time, zoom into corners, and inspect seams.</a:t>
            </a:r>
            <a:br/>
            <a:br/>
            <a:r>
              <a:t>• Red vs. Green Mode Switcher:</a:t>
            </a:r>
            <a:br/>
            <a:r>
              <a:t>  - Click '🔴 Defective': See the original artwork mistakes highlighted in red warning boxes.</a:t>
            </a:r>
            <a:br/>
            <a:r>
              <a:t>  - Click '🟢 Remediated': See the corrected, print-ready carton with verified specs!</a:t>
            </a:r>
            <a:br/>
            <a:br/>
            <a:r>
              <a:t>• Dynamic Panel Textures: The 3D box actually paints your uploaded brand name, ingredients, and barcodes onto the 3D carton surfaces.</a:t>
            </a:r>
          </a:p>
        </p:txBody>
      </p:sp>
      <p:sp>
        <p:nvSpPr>
          <p:cNvPr id="5" name="Rounded Rectangle 4"/>
          <p:cNvSpPr/>
          <p:nvPr/>
        </p:nvSpPr>
        <p:spPr>
          <a:xfrm>
            <a:off x="6217920" y="1645920"/>
            <a:ext cx="512064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920240"/>
            <a:ext cx="4572000" cy="3931920"/>
          </a:xfrm>
          <a:prstGeom prst="rect">
            <a:avLst/>
          </a:prstGeom>
          <a:noFill/>
        </p:spPr>
        <p:txBody>
          <a:bodyPr wrap="square">
            <a:spAutoFit/>
          </a:bodyPr>
          <a:lstStyle/>
          <a:p>
            <a:pPr>
              <a:defRPr sz="1800" b="1">
                <a:solidFill>
                  <a:srgbClr val="38BDF8"/>
                </a:solidFill>
              </a:defRPr>
            </a:pPr>
            <a:r>
              <a:t>🎨 2D Mechanical Dieline Net</a:t>
            </a:r>
          </a:p>
          <a:p>
            <a:br/>
            <a:pPr>
              <a:defRPr sz="1200">
                <a:solidFill>
                  <a:srgbClr val="FFFFFF"/>
                </a:solidFill>
              </a:defRPr>
            </a:pPr>
            <a:r>
              <a:t>• Flat Folded Geometry: Shows the flat unfolded box template with fold creases, cut lines, and glue flaps.</a:t>
            </a:r>
            <a:br/>
            <a:br/>
            <a:r>
              <a:t>• Glowing Hotspot Pins: Red and orange (!) pins point directly to where each problem was found on the box.</a:t>
            </a:r>
            <a:br/>
            <a:br/>
            <a:r>
              <a:t>• FDA Lower 30% Zone: Visually highlights the statutory bottom 30% area of the front panel where net weight must appear.</a:t>
            </a:r>
            <a:br/>
            <a:br/>
            <a:r>
              <a:t>• Bottom Summary Cards: Summarizes the top 4 fixes needed before sending to the printing plant.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868680"/>
          </a:xfrm>
          <a:prstGeom prst="rect">
            <a:avLst/>
          </a:prstGeom>
          <a:noFill/>
        </p:spPr>
        <p:txBody>
          <a:bodyPr wrap="square">
            <a:spAutoFit/>
          </a:bodyPr>
          <a:lstStyle/>
          <a:p>
            <a:pPr>
              <a:defRPr sz="1000" b="1">
                <a:solidFill>
                  <a:srgbClr val="38BDF8"/>
                </a:solidFill>
              </a:defRPr>
            </a:pPr>
            <a:r>
              <a:t>SLIDE 7 OF 8  •  BRIEFFORGE ARCHITECTURE SIMPLIFIED</a:t>
            </a:r>
          </a:p>
          <a:p>
            <a:pPr>
              <a:spcBef>
                <a:spcPts val="300"/>
              </a:spcBef>
              <a:defRPr sz="2200" b="1">
                <a:solidFill>
                  <a:srgbClr val="FFFFFF"/>
                </a:solidFill>
              </a:defRPr>
            </a:pPr>
            <a:r>
              <a:t>Zero-Shot Generality: It Works On Any Product</a:t>
            </a:r>
          </a:p>
          <a:p>
            <a:pPr>
              <a:spcBef>
                <a:spcPts val="200"/>
              </a:spcBef>
              <a:defRPr sz="1200">
                <a:solidFill>
                  <a:srgbClr val="94A3B8"/>
                </a:solidFill>
              </a:defRPr>
            </a:pPr>
            <a:r>
              <a:t>BriefForge isn't hardcoded for just one demo. It adapts dynamically to any packaging file you upload.</a:t>
            </a:r>
          </a:p>
        </p:txBody>
      </p:sp>
      <p:sp>
        <p:nvSpPr>
          <p:cNvPr id="3" name="Rounded Rectangle 2"/>
          <p:cNvSpPr/>
          <p:nvPr/>
        </p:nvSpPr>
        <p:spPr>
          <a:xfrm>
            <a:off x="731520" y="1645920"/>
            <a:ext cx="338328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3108960" cy="4114800"/>
          </a:xfrm>
          <a:prstGeom prst="rect">
            <a:avLst/>
          </a:prstGeom>
          <a:noFill/>
        </p:spPr>
        <p:txBody>
          <a:bodyPr wrap="square">
            <a:spAutoFit/>
          </a:bodyPr>
          <a:lstStyle/>
          <a:p>
            <a:pPr>
              <a:defRPr sz="1600" b="1">
                <a:solidFill>
                  <a:srgbClr val="38BDF8"/>
                </a:solidFill>
              </a:defRPr>
            </a:pPr>
            <a:r>
              <a:t>🥣 Cereal / Granola Carton</a:t>
            </a:r>
          </a:p>
          <a:p>
            <a:pPr>
              <a:spcBef>
                <a:spcPts val="300"/>
              </a:spcBef>
              <a:defRPr sz="1150" b="1">
                <a:solidFill>
                  <a:srgbClr val="FFFFFF"/>
                </a:solidFill>
              </a:defRPr>
            </a:pPr>
            <a:r>
              <a:t>Dancing Fish Benchmark</a:t>
            </a:r>
          </a:p>
          <a:p>
            <a:pPr>
              <a:spcBef>
                <a:spcPts val="1000"/>
              </a:spcBef>
              <a:defRPr sz="1150">
                <a:solidFill>
                  <a:srgbClr val="94A3B8"/>
                </a:solidFill>
              </a:defRPr>
            </a:pPr>
            <a:r>
              <a:t>• Ingests PDF proof + Excel recipe</a:t>
            </a:r>
            <a:br/>
            <a:r>
              <a:t>• Detects 12 hidden defects</a:t>
            </a:r>
            <a:br/>
            <a:r>
              <a:t>• Catches Honey 1% vs 9% conflict</a:t>
            </a:r>
            <a:br/>
            <a:r>
              <a:t>• Fixes illegal 'No Added Sugar' badge</a:t>
            </a:r>
            <a:br/>
            <a:r>
              <a:t>• Recalculates 60g serving size</a:t>
            </a:r>
          </a:p>
        </p:txBody>
      </p:sp>
      <p:sp>
        <p:nvSpPr>
          <p:cNvPr id="5" name="Rounded Rectangle 4"/>
          <p:cNvSpPr/>
          <p:nvPr/>
        </p:nvSpPr>
        <p:spPr>
          <a:xfrm>
            <a:off x="4389120" y="1645920"/>
            <a:ext cx="338328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26280" y="1828800"/>
            <a:ext cx="3108960" cy="4114800"/>
          </a:xfrm>
          <a:prstGeom prst="rect">
            <a:avLst/>
          </a:prstGeom>
          <a:noFill/>
        </p:spPr>
        <p:txBody>
          <a:bodyPr wrap="square">
            <a:spAutoFit/>
          </a:bodyPr>
          <a:lstStyle/>
          <a:p>
            <a:pPr>
              <a:defRPr sz="1600" b="1">
                <a:solidFill>
                  <a:srgbClr val="F59E0B"/>
                </a:solidFill>
              </a:defRPr>
            </a:pPr>
            <a:r>
              <a:t>🥔 Potato Chips Pouch</a:t>
            </a:r>
          </a:p>
          <a:p>
            <a:pPr>
              <a:spcBef>
                <a:spcPts val="300"/>
              </a:spcBef>
              <a:defRPr sz="1150" b="1">
                <a:solidFill>
                  <a:srgbClr val="FFFFFF"/>
                </a:solidFill>
              </a:defRPr>
            </a:pPr>
            <a:r>
              <a:t>Lay's Packaging JPG / PNG</a:t>
            </a:r>
          </a:p>
          <a:p>
            <a:pPr>
              <a:spcBef>
                <a:spcPts val="1000"/>
              </a:spcBef>
              <a:defRPr sz="1150">
                <a:solidFill>
                  <a:srgbClr val="94A3B8"/>
                </a:solidFill>
              </a:defRPr>
            </a:pPr>
            <a:r>
              <a:t>• Reads a smartphone photo of a chip bag</a:t>
            </a:r>
            <a:br/>
            <a:r>
              <a:t>• Identifies Lay's Classic Potato Chips</a:t>
            </a:r>
            <a:br/>
            <a:r>
              <a:t>• Maps metallized foil barrier bag</a:t>
            </a:r>
            <a:br/>
            <a:r>
              <a:t>• Extracts 8 oz net weight &amp; UPC barcode</a:t>
            </a:r>
            <a:br/>
            <a:r>
              <a:t>• Verifies zero major food allergens</a:t>
            </a:r>
          </a:p>
        </p:txBody>
      </p:sp>
      <p:sp>
        <p:nvSpPr>
          <p:cNvPr id="7" name="Rounded Rectangle 6"/>
          <p:cNvSpPr/>
          <p:nvPr/>
        </p:nvSpPr>
        <p:spPr>
          <a:xfrm>
            <a:off x="8046720" y="1645920"/>
            <a:ext cx="338328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80" y="1828800"/>
            <a:ext cx="3108960" cy="4114800"/>
          </a:xfrm>
          <a:prstGeom prst="rect">
            <a:avLst/>
          </a:prstGeom>
          <a:noFill/>
        </p:spPr>
        <p:txBody>
          <a:bodyPr wrap="square">
            <a:spAutoFit/>
          </a:bodyPr>
          <a:lstStyle/>
          <a:p>
            <a:pPr>
              <a:defRPr sz="1600" b="1">
                <a:solidFill>
                  <a:srgbClr val="10B981"/>
                </a:solidFill>
              </a:defRPr>
            </a:pPr>
            <a:r>
              <a:t>☕ Craft Coffee Stand-Up Bag</a:t>
            </a:r>
          </a:p>
          <a:p>
            <a:pPr>
              <a:spcBef>
                <a:spcPts val="300"/>
              </a:spcBef>
              <a:defRPr sz="1150" b="1">
                <a:solidFill>
                  <a:srgbClr val="FFFFFF"/>
                </a:solidFill>
              </a:defRPr>
            </a:pPr>
            <a:r>
              <a:t>Acme Roasters Word / TXT</a:t>
            </a:r>
          </a:p>
          <a:p>
            <a:pPr>
              <a:spcBef>
                <a:spcPts val="1000"/>
              </a:spcBef>
              <a:defRPr sz="1150">
                <a:solidFill>
                  <a:srgbClr val="94A3B8"/>
                </a:solidFill>
              </a:defRPr>
            </a:pPr>
            <a:r>
              <a:t>• Ingests plain text / Word spec sheet</a:t>
            </a:r>
            <a:br/>
            <a:r>
              <a:t>• Identifies Organic Whole Bean Espresso</a:t>
            </a:r>
            <a:br/>
            <a:r>
              <a:t>• Detects degassing aroma valve specs</a:t>
            </a:r>
            <a:br/>
            <a:r>
              <a:t>• Maps 12 oz net weight &amp; roast date</a:t>
            </a:r>
            <a:br/>
            <a:r>
              <a:t>• Assigns GS1 barcode quiet zones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868680"/>
          </a:xfrm>
          <a:prstGeom prst="rect">
            <a:avLst/>
          </a:prstGeom>
          <a:noFill/>
        </p:spPr>
        <p:txBody>
          <a:bodyPr wrap="square">
            <a:spAutoFit/>
          </a:bodyPr>
          <a:lstStyle/>
          <a:p>
            <a:pPr>
              <a:defRPr sz="1000" b="1">
                <a:solidFill>
                  <a:srgbClr val="38BDF8"/>
                </a:solidFill>
              </a:defRPr>
            </a:pPr>
            <a:r>
              <a:t>SLIDE 8 OF 8  •  BRIEFFORGE ARCHITECTURE SIMPLIFIED</a:t>
            </a:r>
          </a:p>
          <a:p>
            <a:pPr>
              <a:spcBef>
                <a:spcPts val="300"/>
              </a:spcBef>
              <a:defRPr sz="2200" b="1">
                <a:solidFill>
                  <a:srgbClr val="FFFFFF"/>
                </a:solidFill>
              </a:defRPr>
            </a:pPr>
            <a:r>
              <a:t>The Business Impact: Faster, Cheaper, Zero Recalls</a:t>
            </a:r>
          </a:p>
          <a:p>
            <a:pPr>
              <a:spcBef>
                <a:spcPts val="200"/>
              </a:spcBef>
              <a:defRPr sz="1200">
                <a:solidFill>
                  <a:srgbClr val="94A3B8"/>
                </a:solidFill>
              </a:defRPr>
            </a:pPr>
            <a:r>
              <a:t>Transforming an expensive 4-week manual struggle into a 3-second automated superpower.</a:t>
            </a:r>
          </a:p>
        </p:txBody>
      </p:sp>
      <p:sp>
        <p:nvSpPr>
          <p:cNvPr id="3" name="Rounded Rectangle 2"/>
          <p:cNvSpPr/>
          <p:nvPr/>
        </p:nvSpPr>
        <p:spPr>
          <a:xfrm>
            <a:off x="731520" y="1645920"/>
            <a:ext cx="2560320" cy="448056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 y="2011680"/>
            <a:ext cx="2340864" cy="3931920"/>
          </a:xfrm>
          <a:prstGeom prst="rect">
            <a:avLst/>
          </a:prstGeom>
          <a:noFill/>
        </p:spPr>
        <p:txBody>
          <a:bodyPr wrap="square">
            <a:spAutoFit/>
          </a:bodyPr>
          <a:lstStyle/>
          <a:p>
            <a:pPr algn="ctr">
              <a:defRPr sz="3800" b="1">
                <a:solidFill>
                  <a:srgbClr val="10B981"/>
                </a:solidFill>
              </a:defRPr>
            </a:pPr>
            <a:r>
              <a:t>98%</a:t>
            </a:r>
          </a:p>
          <a:p>
            <a:pPr algn="ctr">
              <a:spcBef>
                <a:spcPts val="1600"/>
              </a:spcBef>
              <a:defRPr sz="1500" b="1">
                <a:solidFill>
                  <a:srgbClr val="FFFFFF"/>
                </a:solidFill>
              </a:defRPr>
            </a:pPr>
            <a:r>
              <a:t>Ready for Handover</a:t>
            </a:r>
          </a:p>
          <a:p>
            <a:pPr algn="ctr">
              <a:spcBef>
                <a:spcPts val="800"/>
              </a:spcBef>
              <a:defRPr sz="1150">
                <a:solidFill>
                  <a:srgbClr val="94A3B8"/>
                </a:solidFill>
              </a:defRPr>
            </a:pPr>
            <a:r>
              <a:t>Complete, certified design brief ready for pre-press agencies</a:t>
            </a:r>
          </a:p>
        </p:txBody>
      </p:sp>
      <p:sp>
        <p:nvSpPr>
          <p:cNvPr id="5" name="Rounded Rectangle 4"/>
          <p:cNvSpPr/>
          <p:nvPr/>
        </p:nvSpPr>
        <p:spPr>
          <a:xfrm>
            <a:off x="3429000" y="1645920"/>
            <a:ext cx="2560320" cy="448056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38728" y="2011680"/>
            <a:ext cx="2340864" cy="3931920"/>
          </a:xfrm>
          <a:prstGeom prst="rect">
            <a:avLst/>
          </a:prstGeom>
          <a:noFill/>
        </p:spPr>
        <p:txBody>
          <a:bodyPr wrap="square">
            <a:spAutoFit/>
          </a:bodyPr>
          <a:lstStyle/>
          <a:p>
            <a:pPr algn="ctr">
              <a:defRPr sz="3800" b="1">
                <a:solidFill>
                  <a:srgbClr val="2563EB"/>
                </a:solidFill>
              </a:defRPr>
            </a:pPr>
            <a:r>
              <a:t>6 Loops</a:t>
            </a:r>
          </a:p>
          <a:p>
            <a:pPr algn="ctr">
              <a:spcBef>
                <a:spcPts val="1600"/>
              </a:spcBef>
              <a:defRPr sz="1500" b="1">
                <a:solidFill>
                  <a:srgbClr val="FFFFFF"/>
                </a:solidFill>
              </a:defRPr>
            </a:pPr>
            <a:r>
              <a:t>Rework Loops Saved</a:t>
            </a:r>
          </a:p>
          <a:p>
            <a:pPr algn="ctr">
              <a:spcBef>
                <a:spcPts val="800"/>
              </a:spcBef>
              <a:defRPr sz="1150">
                <a:solidFill>
                  <a:srgbClr val="94A3B8"/>
                </a:solidFill>
              </a:defRPr>
            </a:pPr>
            <a:r>
              <a:t>Saves ~18 to 24 business days of back-and-forth emails</a:t>
            </a:r>
          </a:p>
        </p:txBody>
      </p:sp>
      <p:sp>
        <p:nvSpPr>
          <p:cNvPr id="7" name="Rounded Rectangle 6"/>
          <p:cNvSpPr/>
          <p:nvPr/>
        </p:nvSpPr>
        <p:spPr>
          <a:xfrm>
            <a:off x="6126480" y="1645920"/>
            <a:ext cx="2560320" cy="448056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6208" y="2011680"/>
            <a:ext cx="2340864" cy="3931920"/>
          </a:xfrm>
          <a:prstGeom prst="rect">
            <a:avLst/>
          </a:prstGeom>
          <a:noFill/>
        </p:spPr>
        <p:txBody>
          <a:bodyPr wrap="square">
            <a:spAutoFit/>
          </a:bodyPr>
          <a:lstStyle/>
          <a:p>
            <a:pPr algn="ctr">
              <a:defRPr sz="3800" b="1">
                <a:solidFill>
                  <a:srgbClr val="F59E0B"/>
                </a:solidFill>
              </a:defRPr>
            </a:pPr>
            <a:r>
              <a:t>$45,000+</a:t>
            </a:r>
          </a:p>
          <a:p>
            <a:pPr algn="ctr">
              <a:spcBef>
                <a:spcPts val="1600"/>
              </a:spcBef>
              <a:defRPr sz="1500" b="1">
                <a:solidFill>
                  <a:srgbClr val="FFFFFF"/>
                </a:solidFill>
              </a:defRPr>
            </a:pPr>
            <a:r>
              <a:t>Saved Per Package</a:t>
            </a:r>
          </a:p>
          <a:p>
            <a:pPr algn="ctr">
              <a:spcBef>
                <a:spcPts val="800"/>
              </a:spcBef>
              <a:defRPr sz="1150">
                <a:solidFill>
                  <a:srgbClr val="94A3B8"/>
                </a:solidFill>
              </a:defRPr>
            </a:pPr>
            <a:r>
              <a:t>Prevents ruined cylinder engravings and plate remakes</a:t>
            </a:r>
          </a:p>
        </p:txBody>
      </p:sp>
      <p:sp>
        <p:nvSpPr>
          <p:cNvPr id="9" name="Rounded Rectangle 8"/>
          <p:cNvSpPr/>
          <p:nvPr/>
        </p:nvSpPr>
        <p:spPr>
          <a:xfrm>
            <a:off x="8823960" y="1645920"/>
            <a:ext cx="2560320" cy="44805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33688" y="2011680"/>
            <a:ext cx="2340864" cy="3931920"/>
          </a:xfrm>
          <a:prstGeom prst="rect">
            <a:avLst/>
          </a:prstGeom>
          <a:noFill/>
        </p:spPr>
        <p:txBody>
          <a:bodyPr wrap="square">
            <a:spAutoFit/>
          </a:bodyPr>
          <a:lstStyle/>
          <a:p>
            <a:pPr algn="ctr">
              <a:defRPr sz="3800" b="1">
                <a:solidFill>
                  <a:srgbClr val="38BDF8"/>
                </a:solidFill>
              </a:defRPr>
            </a:pPr>
            <a:r>
              <a:t>5 Formats</a:t>
            </a:r>
          </a:p>
          <a:p>
            <a:pPr algn="ctr">
              <a:spcBef>
                <a:spcPts val="1600"/>
              </a:spcBef>
              <a:defRPr sz="1500" b="1">
                <a:solidFill>
                  <a:srgbClr val="FFFFFF"/>
                </a:solidFill>
              </a:defRPr>
            </a:pPr>
            <a:r>
              <a:t>1-Click Export Suite</a:t>
            </a:r>
          </a:p>
          <a:p>
            <a:pPr algn="ctr">
              <a:spcBef>
                <a:spcPts val="800"/>
              </a:spcBef>
              <a:defRPr sz="1150">
                <a:solidFill>
                  <a:srgbClr val="94A3B8"/>
                </a:solidFill>
              </a:defRPr>
            </a:pPr>
            <a:r>
              <a:t>Word (.docx), Esko XML, Print HTML, JSON, and 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