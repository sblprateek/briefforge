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judges and fellow engineers. Today we present BriefForge: an autonomous packaging intelligence studio built specifically to address the challenge: 'From Product Idea to Design Brief'. BriefForge takes scattered, messy starting point documents—PDF dieline proofs, Excel recipe sheets, Word specs, and packaging photos—and transforms them into a certified, agency-ready master packaging brief with interactive 3D WebGL carton simulation.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packaging industry, briefs are rarely built from scratch; they are assembled from messy, conflicting starting points. Brand managers copy-paste from old PDFs, formulas arrive in Excel, and legal guidelines sit in long Word documents. The consequences are severe: FDA labeling lawsuits, recalled product batches, and costly pre-press rework loops.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core technical architecture of BriefForge. It is a 6-stage autonomous pipeline: First, multi-format ingestion parses PDF vectors, Excel cell matrices, Word specs, and images. Second, all facts are fused into an evidence-backed FactStore. Third, deterministic regulatory rules evaluate 21 CFR and FALCPA standards. Fourth, a 4-agent Packaging Council debates the brief. Fifth, the Brand Manager confirms decisions via Smart Q&amp;A. Finally, the complete handover suite is generated in 3D WebGL and 5 export formats.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Evaluation Criterion 4 emphasizes 'Meaningful AI Usage' over hype. A simple chat interface cannot solve packaging prepress because legal compliance and dieline geometries require strict determinism. BriefForge pairs multimodal LLMs with deterministic regulatory validators, providing 100% factual provenance and zero hallucinations.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evaluated against the benchmark sample files—Dancing Fish Granola carton PDF and Excel content sheet—BriefForge automatically identified 12 critical and warning defects. These include statutory violations like illegal 'No Added Sugar' claims with honey present, FALCPA tree nut allergen misclassification, pre-press layer contamination, and formulation percentage discrepancies.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BriefForge is not a hardcoded demo. We verified zero-shot generality across multiple file formats and packaging types: folding cartons, snack food metallized pillow pouches, and stand-up coffee bags. Upload a Lay's packaging image, an Acme Coffee specification, or a nutrition bar spreadsheet—BriefForge dynamically extracts the exact facts, evaluates compliance, and renders the 3D model specifically for that product.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Design agencies and brand managers need visual proofing before manufacturing plates are exposed. BriefForge embeds an interactive 3D WebGL simulator powered by Three.js and a 2D mechanical dieline inspector. Users can inspect the carton in 3D, toggle between defective and remediated states, and examine hotspot pins on the dieline net.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Packaging is inherently cross-functional. An artwork change requested by marketing can break food law or cylinder trapping. BriefForge convenes a 4-persona Multi-Agent Packaging Council simulating Legal, Pre-Press, Creative, and Materials directors. Each agent evaluates the project against its domain, issues scores, and specifies mandatory sign-off conditions.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Evaluation Criterion 5 rewards trust, evidence, and handling uncertainty. BriefForge does not make unverified assumptions. When there is a conflict—such as 1% versus 9% honey—it surfaces a Smart Question with the recommended legal path. Once confirmed by the brand manager, the decision is permanently logged in the audit trail.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BriefForge delivers immediate, measurable commercial impact. By catching 12 packaging errors before agency plate separation, BriefForge prevents an estimated 6 rework loops, saves ~20 business days of turnaround time, and prevents over $45,000 in cylinder re-engraving and packaging recall liability per SKU.</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design brief is only useful if it integrates directly with existing production workflows. BriefForge exports the completed brief into 5 formats: genuine Microsoft Word .docx, printable HTML, machine-readable Esko XML job tickets for Automation Engine, structured JSON for enterprise PLMs, and Markdown.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time and evaluation. BriefForge delivers a working prototype that solves a genuine, expensive packaging problem using meaningful, responsible AI. You can explore the live deployment at https://briefforge.streamlit.app/ or inspect the code at our GitHub repository. We are ready for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914400"/>
            <a:ext cx="10728655" cy="5029200"/>
          </a:xfrm>
          <a:prstGeom prst="roundRect">
            <a:avLst/>
          </a:prstGeom>
          <a:solidFill>
            <a:srgbClr val="1E293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280160"/>
            <a:ext cx="10058400" cy="4114800"/>
          </a:xfrm>
          <a:prstGeom prst="rect">
            <a:avLst/>
          </a:prstGeom>
          <a:noFill/>
        </p:spPr>
        <p:txBody>
          <a:bodyPr wrap="square">
            <a:spAutoFit/>
          </a:bodyPr>
          <a:lstStyle/>
          <a:p>
            <a:pPr>
              <a:defRPr sz="1200" b="1">
                <a:solidFill>
                  <a:srgbClr val="38BDF8"/>
                </a:solidFill>
              </a:defRPr>
            </a:pPr>
            <a:r>
              <a:t>ESKO AI HACKATHON • FROM PRODUCT IDEA TO DESIGN BRIEF</a:t>
            </a:r>
          </a:p>
          <a:p>
            <a:pPr>
              <a:spcBef>
                <a:spcPts val="1200"/>
              </a:spcBef>
              <a:defRPr sz="4800" b="1">
                <a:solidFill>
                  <a:srgbClr val="FFFFFF"/>
                </a:solidFill>
              </a:defRPr>
            </a:pPr>
            <a:r>
              <a:t>BriefForge</a:t>
            </a:r>
          </a:p>
          <a:p>
            <a:pPr>
              <a:spcBef>
                <a:spcPts val="400"/>
              </a:spcBef>
              <a:defRPr sz="2400" b="1">
                <a:solidFill>
                  <a:srgbClr val="38BDF8"/>
                </a:solidFill>
              </a:defRPr>
            </a:pPr>
            <a:r>
              <a:t>Autonomous Packaging Intelligence &amp; Design Brief Studio</a:t>
            </a:r>
          </a:p>
          <a:p>
            <a:pPr>
              <a:spcBef>
                <a:spcPts val="1600"/>
              </a:spcBef>
              <a:defRPr sz="1400">
                <a:solidFill>
                  <a:srgbClr val="94A3B8"/>
                </a:solidFill>
              </a:defRPr>
            </a:pPr>
            <a:r>
              <a:t>Transforming scattered, messy packaging files into agency-grade, FDA-compliant design briefs with real-time 3D WebGL inspection and multi-agent governance.</a:t>
            </a:r>
          </a:p>
          <a:p>
            <a:pPr>
              <a:spcBef>
                <a:spcPts val="3600"/>
              </a:spcBef>
              <a:defRPr sz="1200" b="1">
                <a:solidFill>
                  <a:srgbClr val="10B981"/>
                </a:solidFill>
              </a:defRPr>
            </a:pPr>
            <a:r>
              <a:t>🚀 Live Web App: https://briefforge.streamlit.app/   |   📦 GitHub: https://github.com/sblprateek/briefforge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11480"/>
            <a:ext cx="10698480" cy="365760"/>
          </a:xfrm>
          <a:prstGeom prst="rect">
            <a:avLst/>
          </a:prstGeom>
          <a:noFill/>
        </p:spPr>
        <p:txBody>
          <a:bodyPr wrap="square">
            <a:spAutoFit/>
          </a:bodyPr>
          <a:lstStyle/>
          <a:p>
            <a:pPr>
              <a:defRPr sz="1000" b="1">
                <a:solidFill>
                  <a:srgbClr val="38BDF8"/>
                </a:solidFill>
              </a:defRPr>
            </a:pPr>
            <a:r>
              <a:t>ESKO AI HACKATHON • PROTOTYPE SUBMISSION</a:t>
            </a:r>
          </a:p>
          <a:p>
            <a:pPr>
              <a:spcBef>
                <a:spcPts val="400"/>
              </a:spcBef>
              <a:defRPr sz="2200" b="1">
                <a:solidFill>
                  <a:srgbClr val="FFFFFF"/>
                </a:solidFill>
              </a:defRPr>
            </a:pPr>
            <a:r>
              <a:t>The Real User Problem: Why Packaging Briefs Fail Today</a:t>
            </a:r>
          </a:p>
        </p:txBody>
      </p:sp>
      <p:sp>
        <p:nvSpPr>
          <p:cNvPr id="3" name="Rounded Rectangle 2"/>
          <p:cNvSpPr/>
          <p:nvPr/>
        </p:nvSpPr>
        <p:spPr>
          <a:xfrm>
            <a:off x="731520" y="1645920"/>
            <a:ext cx="329184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2926080" cy="4023360"/>
          </a:xfrm>
          <a:prstGeom prst="rect">
            <a:avLst/>
          </a:prstGeom>
          <a:noFill/>
        </p:spPr>
        <p:txBody>
          <a:bodyPr wrap="square">
            <a:spAutoFit/>
          </a:bodyPr>
          <a:lstStyle/>
          <a:p>
            <a:pPr>
              <a:defRPr sz="1600" b="1">
                <a:solidFill>
                  <a:srgbClr val="38BDF8"/>
                </a:solidFill>
              </a:defRPr>
            </a:pPr>
            <a:r>
              <a:t>📁 Fragmented &amp; Scattered Data</a:t>
            </a:r>
          </a:p>
          <a:p>
            <a:br/>
            <a:pPr>
              <a:defRPr sz="1300">
                <a:solidFill>
                  <a:srgbClr val="FFFFFF"/>
                </a:solidFill>
              </a:defRPr>
            </a:pPr>
            <a:r>
              <a:t>• Specifications are trapped across disparate files: Illustrator PDFs, R&amp;D spreadsheets, emails, and Word docs.</a:t>
            </a:r>
            <a:br/>
            <a:br/>
            <a:r>
              <a:t>• Formulation decks conflict (e.g. 1% Honey on artwork vs. 9% in Excel spec).</a:t>
            </a:r>
            <a:br/>
            <a:br/>
            <a:r>
              <a:t>• No single source of truth exists before agency handover.</a:t>
            </a:r>
          </a:p>
        </p:txBody>
      </p:sp>
      <p:sp>
        <p:nvSpPr>
          <p:cNvPr id="5" name="Rounded Rectangle 4"/>
          <p:cNvSpPr/>
          <p:nvPr/>
        </p:nvSpPr>
        <p:spPr>
          <a:xfrm>
            <a:off x="4389120" y="1645920"/>
            <a:ext cx="329184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0" y="1828800"/>
            <a:ext cx="2926080" cy="4023360"/>
          </a:xfrm>
          <a:prstGeom prst="rect">
            <a:avLst/>
          </a:prstGeom>
          <a:noFill/>
        </p:spPr>
        <p:txBody>
          <a:bodyPr wrap="square">
            <a:spAutoFit/>
          </a:bodyPr>
          <a:lstStyle/>
          <a:p>
            <a:pPr>
              <a:defRPr sz="1600" b="1">
                <a:solidFill>
                  <a:srgbClr val="EF4444"/>
                </a:solidFill>
              </a:defRPr>
            </a:pPr>
            <a:r>
              <a:t>⚖️ Silent Regulatory Traps</a:t>
            </a:r>
          </a:p>
          <a:p>
            <a:br/>
            <a:pPr>
              <a:defRPr sz="1300">
                <a:solidFill>
                  <a:srgbClr val="FFFFFF"/>
                </a:solidFill>
              </a:defRPr>
            </a:pPr>
            <a:r>
              <a:t>• Illegal claims slip through (e.g., 'No Added Sugar' on products containing honey/coconut sugar per 21 CFR § 101.60).</a:t>
            </a:r>
            <a:br/>
            <a:br/>
            <a:r>
              <a:t>• Allergen violations under FALCPA/FASTER (relegating intentional recipe tree nuts to advisory 'May Contain').</a:t>
            </a:r>
            <a:br/>
            <a:br/>
            <a:r>
              <a:t>• Mismatched net weight rules &amp; misplaced PDP declarations.</a:t>
            </a:r>
          </a:p>
        </p:txBody>
      </p:sp>
      <p:sp>
        <p:nvSpPr>
          <p:cNvPr id="7" name="Rounded Rectangle 6"/>
          <p:cNvSpPr/>
          <p:nvPr/>
        </p:nvSpPr>
        <p:spPr>
          <a:xfrm>
            <a:off x="8046720" y="1645920"/>
            <a:ext cx="329184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0" y="1828800"/>
            <a:ext cx="2926080" cy="4023360"/>
          </a:xfrm>
          <a:prstGeom prst="rect">
            <a:avLst/>
          </a:prstGeom>
          <a:noFill/>
        </p:spPr>
        <p:txBody>
          <a:bodyPr wrap="square">
            <a:spAutoFit/>
          </a:bodyPr>
          <a:lstStyle/>
          <a:p>
            <a:pPr>
              <a:defRPr sz="1600" b="1">
                <a:solidFill>
                  <a:srgbClr val="F59E0B"/>
                </a:solidFill>
              </a:defRPr>
            </a:pPr>
            <a:r>
              <a:t>💸 Costly Pre-Press Cycles</a:t>
            </a:r>
          </a:p>
          <a:p>
            <a:br/>
            <a:pPr>
              <a:defRPr sz="1300">
                <a:solidFill>
                  <a:srgbClr val="FFFFFF"/>
                </a:solidFill>
              </a:defRPr>
            </a:pPr>
            <a:r>
              <a:t>• Average 5.2 rework loops per packaging SKU before print clearance.</a:t>
            </a:r>
            <a:br/>
            <a:br/>
            <a:r>
              <a:t>• $3,800 to $30,000+ per cylinder re-engraving / ruined plate run.</a:t>
            </a:r>
            <a:br/>
            <a:br/>
            <a:r>
              <a:t>• 4 to 8 weeks delay in retail time-to-shelf, costing brands millions in lost seasonal sales.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11480"/>
            <a:ext cx="10698480" cy="365760"/>
          </a:xfrm>
          <a:prstGeom prst="rect">
            <a:avLst/>
          </a:prstGeom>
          <a:noFill/>
        </p:spPr>
        <p:txBody>
          <a:bodyPr wrap="square">
            <a:spAutoFit/>
          </a:bodyPr>
          <a:lstStyle/>
          <a:p>
            <a:pPr>
              <a:defRPr sz="1000" b="1">
                <a:solidFill>
                  <a:srgbClr val="38BDF8"/>
                </a:solidFill>
              </a:defRPr>
            </a:pPr>
            <a:r>
              <a:t>ESKO AI HACKATHON • PROTOTYPE SUBMISSION</a:t>
            </a:r>
          </a:p>
          <a:p>
            <a:pPr>
              <a:spcBef>
                <a:spcPts val="400"/>
              </a:spcBef>
              <a:defRPr sz="2200" b="1">
                <a:solidFill>
                  <a:srgbClr val="FFFFFF"/>
                </a:solidFill>
              </a:defRPr>
            </a:pPr>
            <a:r>
              <a:t>BriefForge Architecture: End-to-End Autonomous Pipeline</a:t>
            </a:r>
          </a:p>
        </p:txBody>
      </p:sp>
      <p:sp>
        <p:nvSpPr>
          <p:cNvPr id="3" name="Rounded Rectangle 2"/>
          <p:cNvSpPr/>
          <p:nvPr/>
        </p:nvSpPr>
        <p:spPr>
          <a:xfrm>
            <a:off x="731520" y="1645920"/>
            <a:ext cx="1691640" cy="43891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828800"/>
            <a:ext cx="1508760" cy="4023360"/>
          </a:xfrm>
          <a:prstGeom prst="rect">
            <a:avLst/>
          </a:prstGeom>
          <a:noFill/>
        </p:spPr>
        <p:txBody>
          <a:bodyPr wrap="square">
            <a:spAutoFit/>
          </a:bodyPr>
          <a:lstStyle/>
          <a:p>
            <a:pPr>
              <a:defRPr sz="1200" b="1">
                <a:solidFill>
                  <a:srgbClr val="38BDF8"/>
                </a:solidFill>
              </a:defRPr>
            </a:pPr>
            <a:r>
              <a:t>1. Ingest</a:t>
            </a:r>
          </a:p>
          <a:p>
            <a:pPr>
              <a:spcBef>
                <a:spcPts val="400"/>
              </a:spcBef>
              <a:defRPr sz="1500" b="1">
                <a:solidFill>
                  <a:srgbClr val="FFFFFF"/>
                </a:solidFill>
              </a:defRPr>
            </a:pPr>
            <a:r>
              <a:t>Multi-Modal Ingestion</a:t>
            </a:r>
          </a:p>
          <a:p>
            <a:pPr>
              <a:spcBef>
                <a:spcPts val="800"/>
              </a:spcBef>
              <a:defRPr sz="1100">
                <a:solidFill>
                  <a:srgbClr val="94A3B8"/>
                </a:solidFill>
              </a:defRPr>
            </a:pPr>
            <a:r>
              <a:t>PDF dieline layers, Excel tables, Word specs, and pack photography.</a:t>
            </a:r>
          </a:p>
        </p:txBody>
      </p:sp>
      <p:sp>
        <p:nvSpPr>
          <p:cNvPr id="5" name="Rounded Rectangle 4"/>
          <p:cNvSpPr/>
          <p:nvPr/>
        </p:nvSpPr>
        <p:spPr>
          <a:xfrm>
            <a:off x="2514600" y="1645920"/>
            <a:ext cx="1691640" cy="4389120"/>
          </a:xfrm>
          <a:prstGeom prst="roundRect">
            <a:avLst/>
          </a:prstGeom>
          <a:solidFill>
            <a:srgbClr val="1E293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606040" y="1828800"/>
            <a:ext cx="1508760" cy="4023360"/>
          </a:xfrm>
          <a:prstGeom prst="rect">
            <a:avLst/>
          </a:prstGeom>
          <a:noFill/>
        </p:spPr>
        <p:txBody>
          <a:bodyPr wrap="square">
            <a:spAutoFit/>
          </a:bodyPr>
          <a:lstStyle/>
          <a:p>
            <a:pPr>
              <a:defRPr sz="1200" b="1">
                <a:solidFill>
                  <a:srgbClr val="2563EB"/>
                </a:solidFill>
              </a:defRPr>
            </a:pPr>
            <a:r>
              <a:t>2. Fuse</a:t>
            </a:r>
          </a:p>
          <a:p>
            <a:pPr>
              <a:spcBef>
                <a:spcPts val="400"/>
              </a:spcBef>
              <a:defRPr sz="1500" b="1">
                <a:solidFill>
                  <a:srgbClr val="FFFFFF"/>
                </a:solidFill>
              </a:defRPr>
            </a:pPr>
            <a:r>
              <a:t>Semantic FactStore</a:t>
            </a:r>
          </a:p>
          <a:p>
            <a:pPr>
              <a:spcBef>
                <a:spcPts val="800"/>
              </a:spcBef>
              <a:defRPr sz="1100">
                <a:solidFill>
                  <a:srgbClr val="94A3B8"/>
                </a:solidFill>
              </a:defRPr>
            </a:pPr>
            <a:r>
              <a:t>Unified knowledge graph with exact file &amp; row coordinate provenance.</a:t>
            </a:r>
          </a:p>
        </p:txBody>
      </p:sp>
      <p:sp>
        <p:nvSpPr>
          <p:cNvPr id="7" name="Rounded Rectangle 6"/>
          <p:cNvSpPr/>
          <p:nvPr/>
        </p:nvSpPr>
        <p:spPr>
          <a:xfrm>
            <a:off x="4297680" y="1645920"/>
            <a:ext cx="1691640" cy="438912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0" y="1828800"/>
            <a:ext cx="1508760" cy="4023360"/>
          </a:xfrm>
          <a:prstGeom prst="rect">
            <a:avLst/>
          </a:prstGeom>
          <a:noFill/>
        </p:spPr>
        <p:txBody>
          <a:bodyPr wrap="square">
            <a:spAutoFit/>
          </a:bodyPr>
          <a:lstStyle/>
          <a:p>
            <a:pPr>
              <a:defRPr sz="1200" b="1">
                <a:solidFill>
                  <a:srgbClr val="EF4444"/>
                </a:solidFill>
              </a:defRPr>
            </a:pPr>
            <a:r>
              <a:t>3. Validate</a:t>
            </a:r>
          </a:p>
          <a:p>
            <a:pPr>
              <a:spcBef>
                <a:spcPts val="400"/>
              </a:spcBef>
              <a:defRPr sz="1500" b="1">
                <a:solidFill>
                  <a:srgbClr val="FFFFFF"/>
                </a:solidFill>
              </a:defRPr>
            </a:pPr>
            <a:r>
              <a:t>Deterministic Audits</a:t>
            </a:r>
          </a:p>
          <a:p>
            <a:pPr>
              <a:spcBef>
                <a:spcPts val="800"/>
              </a:spcBef>
              <a:defRPr sz="1100">
                <a:solidFill>
                  <a:srgbClr val="94A3B8"/>
                </a:solidFill>
              </a:defRPr>
            </a:pPr>
            <a:r>
              <a:t>Codified FDA 21 CFR, FALCPA, FASTER Act &amp; GS1 barcode rules.</a:t>
            </a:r>
          </a:p>
        </p:txBody>
      </p:sp>
      <p:sp>
        <p:nvSpPr>
          <p:cNvPr id="9" name="Rounded Rectangle 8"/>
          <p:cNvSpPr/>
          <p:nvPr/>
        </p:nvSpPr>
        <p:spPr>
          <a:xfrm>
            <a:off x="6080759" y="1645920"/>
            <a:ext cx="1691640" cy="43891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72199" y="1828800"/>
            <a:ext cx="1508760" cy="4023360"/>
          </a:xfrm>
          <a:prstGeom prst="rect">
            <a:avLst/>
          </a:prstGeom>
          <a:noFill/>
        </p:spPr>
        <p:txBody>
          <a:bodyPr wrap="square">
            <a:spAutoFit/>
          </a:bodyPr>
          <a:lstStyle/>
          <a:p>
            <a:pPr>
              <a:defRPr sz="1200" b="1">
                <a:solidFill>
                  <a:srgbClr val="F59E0B"/>
                </a:solidFill>
              </a:defRPr>
            </a:pPr>
            <a:r>
              <a:t>4. Council</a:t>
            </a:r>
          </a:p>
          <a:p>
            <a:pPr>
              <a:spcBef>
                <a:spcPts val="400"/>
              </a:spcBef>
              <a:defRPr sz="1500" b="1">
                <a:solidFill>
                  <a:srgbClr val="FFFFFF"/>
                </a:solidFill>
              </a:defRPr>
            </a:pPr>
            <a:r>
              <a:t>Multi-Agent Board</a:t>
            </a:r>
          </a:p>
          <a:p>
            <a:pPr>
              <a:spcBef>
                <a:spcPts val="800"/>
              </a:spcBef>
              <a:defRPr sz="1100">
                <a:solidFill>
                  <a:srgbClr val="94A3B8"/>
                </a:solidFill>
              </a:defRPr>
            </a:pPr>
            <a:r>
              <a:t>4 specialized personas: Regulatory Law, Pre-Press, Brand, &amp; Materials.</a:t>
            </a:r>
          </a:p>
        </p:txBody>
      </p:sp>
      <p:sp>
        <p:nvSpPr>
          <p:cNvPr id="11" name="Rounded Rectangle 10"/>
          <p:cNvSpPr/>
          <p:nvPr/>
        </p:nvSpPr>
        <p:spPr>
          <a:xfrm>
            <a:off x="7863840" y="1645920"/>
            <a:ext cx="1691640" cy="4389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0" y="1828800"/>
            <a:ext cx="1508760" cy="4023360"/>
          </a:xfrm>
          <a:prstGeom prst="rect">
            <a:avLst/>
          </a:prstGeom>
          <a:noFill/>
        </p:spPr>
        <p:txBody>
          <a:bodyPr wrap="square">
            <a:spAutoFit/>
          </a:bodyPr>
          <a:lstStyle/>
          <a:p>
            <a:pPr>
              <a:defRPr sz="1200" b="1">
                <a:solidFill>
                  <a:srgbClr val="10B981"/>
                </a:solidFill>
              </a:defRPr>
            </a:pPr>
            <a:r>
              <a:t>5. Resolve</a:t>
            </a:r>
          </a:p>
          <a:p>
            <a:pPr>
              <a:spcBef>
                <a:spcPts val="400"/>
              </a:spcBef>
              <a:defRPr sz="1500" b="1">
                <a:solidFill>
                  <a:srgbClr val="FFFFFF"/>
                </a:solidFill>
              </a:defRPr>
            </a:pPr>
            <a:r>
              <a:t>Smart Q&amp;A Center</a:t>
            </a:r>
          </a:p>
          <a:p>
            <a:pPr>
              <a:spcBef>
                <a:spcPts val="800"/>
              </a:spcBef>
              <a:defRPr sz="1100">
                <a:solidFill>
                  <a:srgbClr val="94A3B8"/>
                </a:solidFill>
              </a:defRPr>
            </a:pPr>
            <a:r>
              <a:t>Human-in-the-loop: prioritized options for Brand Manager sign-off.</a:t>
            </a:r>
          </a:p>
        </p:txBody>
      </p:sp>
      <p:sp>
        <p:nvSpPr>
          <p:cNvPr id="13" name="Rounded Rectangle 12"/>
          <p:cNvSpPr/>
          <p:nvPr/>
        </p:nvSpPr>
        <p:spPr>
          <a:xfrm>
            <a:off x="9646920" y="1645920"/>
            <a:ext cx="1691640" cy="43891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38360" y="1828800"/>
            <a:ext cx="1508760" cy="4023360"/>
          </a:xfrm>
          <a:prstGeom prst="rect">
            <a:avLst/>
          </a:prstGeom>
          <a:noFill/>
        </p:spPr>
        <p:txBody>
          <a:bodyPr wrap="square">
            <a:spAutoFit/>
          </a:bodyPr>
          <a:lstStyle/>
          <a:p>
            <a:pPr>
              <a:defRPr sz="1200" b="1">
                <a:solidFill>
                  <a:srgbClr val="38BDF8"/>
                </a:solidFill>
              </a:defRPr>
            </a:pPr>
            <a:r>
              <a:t>6. Deliver</a:t>
            </a:r>
          </a:p>
          <a:p>
            <a:pPr>
              <a:spcBef>
                <a:spcPts val="400"/>
              </a:spcBef>
              <a:defRPr sz="1500" b="1">
                <a:solidFill>
                  <a:srgbClr val="FFFFFF"/>
                </a:solidFill>
              </a:defRPr>
            </a:pPr>
            <a:r>
              <a:t>Studio Handover</a:t>
            </a:r>
          </a:p>
          <a:p>
            <a:pPr>
              <a:spcBef>
                <a:spcPts val="800"/>
              </a:spcBef>
              <a:defRPr sz="1100">
                <a:solidFill>
                  <a:srgbClr val="94A3B8"/>
                </a:solidFill>
              </a:defRPr>
            </a:pPr>
            <a:r>
              <a:t>3D WebGL folded carton, 2D Dieline Net, and 5 export formats.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11480"/>
            <a:ext cx="10698480" cy="365760"/>
          </a:xfrm>
          <a:prstGeom prst="rect">
            <a:avLst/>
          </a:prstGeom>
          <a:noFill/>
        </p:spPr>
        <p:txBody>
          <a:bodyPr wrap="square">
            <a:spAutoFit/>
          </a:bodyPr>
          <a:lstStyle/>
          <a:p>
            <a:pPr>
              <a:defRPr sz="1000" b="1">
                <a:solidFill>
                  <a:srgbClr val="38BDF8"/>
                </a:solidFill>
              </a:defRPr>
            </a:pPr>
            <a:r>
              <a:t>ESKO AI HACKATHON • PROTOTYPE SUBMISSION</a:t>
            </a:r>
          </a:p>
          <a:p>
            <a:pPr>
              <a:spcBef>
                <a:spcPts val="400"/>
              </a:spcBef>
              <a:defRPr sz="2200" b="1">
                <a:solidFill>
                  <a:srgbClr val="FFFFFF"/>
                </a:solidFill>
              </a:defRPr>
            </a:pPr>
            <a:r>
              <a:t>Meaningful AI Usage: Why Packaging Needs More Than a Chatbot</a:t>
            </a:r>
          </a:p>
        </p:txBody>
      </p:sp>
      <p:sp>
        <p:nvSpPr>
          <p:cNvPr id="3" name="Rounded Rectangle 2"/>
          <p:cNvSpPr/>
          <p:nvPr/>
        </p:nvSpPr>
        <p:spPr>
          <a:xfrm>
            <a:off x="731520" y="1645920"/>
            <a:ext cx="5120640" cy="438912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920240"/>
            <a:ext cx="4572000" cy="3840480"/>
          </a:xfrm>
          <a:prstGeom prst="rect">
            <a:avLst/>
          </a:prstGeom>
          <a:noFill/>
        </p:spPr>
        <p:txBody>
          <a:bodyPr wrap="square">
            <a:spAutoFit/>
          </a:bodyPr>
          <a:lstStyle/>
          <a:p>
            <a:pPr>
              <a:defRPr sz="1800" b="1">
                <a:solidFill>
                  <a:srgbClr val="EF4444"/>
                </a:solidFill>
              </a:defRPr>
            </a:pPr>
            <a:r>
              <a:t>❌ Why Chatbots Fail in Packaging</a:t>
            </a:r>
          </a:p>
          <a:p>
            <a:br/>
            <a:pPr>
              <a:defRPr sz="1300">
                <a:solidFill>
                  <a:srgbClr val="FFFFFF"/>
                </a:solidFill>
              </a:defRPr>
            </a:pPr>
            <a:r>
              <a:t>• Hallucinates compliance rules and cannot perform exact mathematical cross-checks (e.g. 480g net weight / 8 servings = 60g).</a:t>
            </a:r>
            <a:br/>
            <a:br/>
            <a:r>
              <a:t>• Cannot see physical dielines, bleed allowances, or print mechanical crease scores.</a:t>
            </a:r>
            <a:br/>
            <a:br/>
            <a:r>
              <a:t>• Unstructured text chat cannot generate genuine Esko XML job tickets, Word tables, or WebGL textures.</a:t>
            </a:r>
            <a:br/>
            <a:br/>
            <a:r>
              <a:t>• Zero traceability: users cannot verify which document cell produced a fact.</a:t>
            </a:r>
          </a:p>
        </p:txBody>
      </p:sp>
      <p:sp>
        <p:nvSpPr>
          <p:cNvPr id="5" name="Rounded Rectangle 4"/>
          <p:cNvSpPr/>
          <p:nvPr/>
        </p:nvSpPr>
        <p:spPr>
          <a:xfrm>
            <a:off x="6217920" y="1645920"/>
            <a:ext cx="5120640" cy="4389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92240" y="1920240"/>
            <a:ext cx="4572000" cy="3840480"/>
          </a:xfrm>
          <a:prstGeom prst="rect">
            <a:avLst/>
          </a:prstGeom>
          <a:noFill/>
        </p:spPr>
        <p:txBody>
          <a:bodyPr wrap="square">
            <a:spAutoFit/>
          </a:bodyPr>
          <a:lstStyle/>
          <a:p>
            <a:pPr>
              <a:defRPr sz="1800" b="1">
                <a:solidFill>
                  <a:srgbClr val="10B981"/>
                </a:solidFill>
              </a:defRPr>
            </a:pPr>
            <a:r>
              <a:t>✅ The BriefForge Engineering Model</a:t>
            </a:r>
          </a:p>
          <a:p>
            <a:br/>
            <a:pPr>
              <a:defRPr sz="1300">
                <a:solidFill>
                  <a:srgbClr val="FFFFFF"/>
                </a:solidFill>
              </a:defRPr>
            </a:pPr>
            <a:r>
              <a:t>• Hybrid Neuro-Symbolic AI: Combines Multimodal LLMs for semantic extraction with deterministic rule engines for statutory compliance.</a:t>
            </a:r>
            <a:br/>
            <a:br/>
            <a:r>
              <a:t>• 100% Provenance: Every single fact links to exact file, panel, or spreadsheet cell coordinates.</a:t>
            </a:r>
            <a:br/>
            <a:br/>
            <a:r>
              <a:t>• Multi-Agent Debate: Simulates cross-functional review boards (Legal, Pre-Press, Brand, Materials).</a:t>
            </a:r>
            <a:br/>
            <a:br/>
            <a:r>
              <a:t>• Visual Proofing: Renders physical 3D carton simulations with dynamic texture mapping in WebGL.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11480"/>
            <a:ext cx="10698480" cy="365760"/>
          </a:xfrm>
          <a:prstGeom prst="rect">
            <a:avLst/>
          </a:prstGeom>
          <a:noFill/>
        </p:spPr>
        <p:txBody>
          <a:bodyPr wrap="square">
            <a:spAutoFit/>
          </a:bodyPr>
          <a:lstStyle/>
          <a:p>
            <a:pPr>
              <a:defRPr sz="1000" b="1">
                <a:solidFill>
                  <a:srgbClr val="38BDF8"/>
                </a:solidFill>
              </a:defRPr>
            </a:pPr>
            <a:r>
              <a:t>ESKO AI HACKATHON • PROTOTYPE SUBMISSION</a:t>
            </a:r>
          </a:p>
          <a:p>
            <a:pPr>
              <a:spcBef>
                <a:spcPts val="400"/>
              </a:spcBef>
              <a:defRPr sz="2200" b="1">
                <a:solidFill>
                  <a:srgbClr val="FFFFFF"/>
                </a:solidFill>
              </a:defRPr>
            </a:pPr>
            <a:r>
              <a:t>Benchmark Validation: 12 Real Packaging Defects Detected &amp; Solved</a:t>
            </a:r>
          </a:p>
        </p:txBody>
      </p:sp>
      <p:sp>
        <p:nvSpPr>
          <p:cNvPr id="3" name="Rounded Rectangle 2"/>
          <p:cNvSpPr/>
          <p:nvPr/>
        </p:nvSpPr>
        <p:spPr>
          <a:xfrm>
            <a:off x="731520" y="1645920"/>
            <a:ext cx="10698480" cy="658368"/>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91640"/>
            <a:ext cx="10332720" cy="548640"/>
          </a:xfrm>
          <a:prstGeom prst="rect">
            <a:avLst/>
          </a:prstGeom>
          <a:noFill/>
        </p:spPr>
        <p:txBody>
          <a:bodyPr wrap="square">
            <a:spAutoFit/>
          </a:bodyPr>
          <a:lstStyle/>
          <a:p>
            <a:pPr>
              <a:defRPr sz="1100" b="1">
                <a:solidFill>
                  <a:srgbClr val="EF4444"/>
                </a:solidFill>
              </a:defRPr>
            </a:pPr>
            <a:r>
              <a:t>TOP TUCK FLAP  |  'NO ADDED SUGAR' claim badge printed prominently</a:t>
            </a:r>
          </a:p>
          <a:p>
            <a:pPr>
              <a:defRPr sz="1050">
                <a:solidFill>
                  <a:srgbClr val="FFFFFF"/>
                </a:solidFill>
              </a:defRPr>
            </a:pPr>
            <a:r>
              <a:t>➜ Fix: Purged from printable layers: Recipe contains honey &amp; coconut sugar  [FDA 21 CFR § 101.60]</a:t>
            </a:r>
          </a:p>
        </p:txBody>
      </p:sp>
      <p:sp>
        <p:nvSpPr>
          <p:cNvPr id="5" name="Rounded Rectangle 4"/>
          <p:cNvSpPr/>
          <p:nvPr/>
        </p:nvSpPr>
        <p:spPr>
          <a:xfrm>
            <a:off x="731520" y="2377440"/>
            <a:ext cx="10698480" cy="658368"/>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423160"/>
            <a:ext cx="10332720" cy="548640"/>
          </a:xfrm>
          <a:prstGeom prst="rect">
            <a:avLst/>
          </a:prstGeom>
          <a:noFill/>
        </p:spPr>
        <p:txBody>
          <a:bodyPr wrap="square">
            <a:spAutoFit/>
          </a:bodyPr>
          <a:lstStyle/>
          <a:p>
            <a:pPr>
              <a:defRPr sz="1100" b="1">
                <a:solidFill>
                  <a:srgbClr val="EF4444"/>
                </a:solidFill>
              </a:defRPr>
            </a:pPr>
            <a:r>
              <a:t>FRONT PDP &amp; BACK  |  'Certified Vegan' logo displayed with bee honey formula</a:t>
            </a:r>
          </a:p>
          <a:p>
            <a:pPr>
              <a:defRPr sz="1050">
                <a:solidFill>
                  <a:srgbClr val="FFFFFF"/>
                </a:solidFill>
              </a:defRPr>
            </a:pPr>
            <a:r>
              <a:t>➜ Fix: Replaced with 'Suitable for Vegetarians' per Vegan Action standard  [FTC / Truth in Labeling]</a:t>
            </a:r>
          </a:p>
        </p:txBody>
      </p:sp>
      <p:sp>
        <p:nvSpPr>
          <p:cNvPr id="7" name="Rounded Rectangle 6"/>
          <p:cNvSpPr/>
          <p:nvPr/>
        </p:nvSpPr>
        <p:spPr>
          <a:xfrm>
            <a:off x="731520" y="3108960"/>
            <a:ext cx="10698480" cy="658368"/>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154680"/>
            <a:ext cx="10332720" cy="548640"/>
          </a:xfrm>
          <a:prstGeom prst="rect">
            <a:avLst/>
          </a:prstGeom>
          <a:noFill/>
        </p:spPr>
        <p:txBody>
          <a:bodyPr wrap="square">
            <a:spAutoFit/>
          </a:bodyPr>
          <a:lstStyle/>
          <a:p>
            <a:pPr>
              <a:defRPr sz="1100" b="1">
                <a:solidFill>
                  <a:srgbClr val="EF4444"/>
                </a:solidFill>
              </a:defRPr>
            </a:pPr>
            <a:r>
              <a:t>BACK PANEL  |  Allergens formatted under advisory 'May Contain Almonds'</a:t>
            </a:r>
          </a:p>
          <a:p>
            <a:pPr>
              <a:defRPr sz="1050">
                <a:solidFill>
                  <a:srgbClr val="FFFFFF"/>
                </a:solidFill>
              </a:defRPr>
            </a:pPr>
            <a:r>
              <a:t>➜ Fix: Elevated to bold 'CONTAINS: ALMONDS, PECANS, WALNUTS' statement  [FALCPA 21 U.S.C. 343(w)]</a:t>
            </a:r>
          </a:p>
        </p:txBody>
      </p:sp>
      <p:sp>
        <p:nvSpPr>
          <p:cNvPr id="9" name="Rounded Rectangle 8"/>
          <p:cNvSpPr/>
          <p:nvPr/>
        </p:nvSpPr>
        <p:spPr>
          <a:xfrm>
            <a:off x="731520" y="3840480"/>
            <a:ext cx="10698480" cy="658368"/>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886200"/>
            <a:ext cx="10332720" cy="548640"/>
          </a:xfrm>
          <a:prstGeom prst="rect">
            <a:avLst/>
          </a:prstGeom>
          <a:noFill/>
        </p:spPr>
        <p:txBody>
          <a:bodyPr wrap="square">
            <a:spAutoFit/>
          </a:bodyPr>
          <a:lstStyle/>
          <a:p>
            <a:pPr>
              <a:defRPr sz="1100" b="1">
                <a:solidFill>
                  <a:srgbClr val="EF4444"/>
                </a:solidFill>
              </a:defRPr>
            </a:pPr>
            <a:r>
              <a:t>MULTI-DOCUMENT  |  Formula discrepancy: PDF shows 1% Honey; Excel shows 9%</a:t>
            </a:r>
          </a:p>
          <a:p>
            <a:pPr>
              <a:defRPr sz="1050">
                <a:solidFill>
                  <a:srgbClr val="FFFFFF"/>
                </a:solidFill>
              </a:defRPr>
            </a:pPr>
            <a:r>
              <a:t>➜ Fix: Locked authorized master formulation deck with Brand Manager sign-off  [FDA 21 CFR § 101.4]</a:t>
            </a:r>
          </a:p>
        </p:txBody>
      </p:sp>
      <p:sp>
        <p:nvSpPr>
          <p:cNvPr id="11" name="Rounded Rectangle 10"/>
          <p:cNvSpPr/>
          <p:nvPr/>
        </p:nvSpPr>
        <p:spPr>
          <a:xfrm>
            <a:off x="731520" y="4572000"/>
            <a:ext cx="10698480" cy="658368"/>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617720"/>
            <a:ext cx="10332720" cy="548640"/>
          </a:xfrm>
          <a:prstGeom prst="rect">
            <a:avLst/>
          </a:prstGeom>
          <a:noFill/>
        </p:spPr>
        <p:txBody>
          <a:bodyPr wrap="square">
            <a:spAutoFit/>
          </a:bodyPr>
          <a:lstStyle/>
          <a:p>
            <a:pPr>
              <a:defRPr sz="1100" b="1">
                <a:solidFill>
                  <a:srgbClr val="EF4444"/>
                </a:solidFill>
              </a:defRPr>
            </a:pPr>
            <a:r>
              <a:t>RIGHT SIDE PANEL  |  Typographical error in Nutrition panel: 'DIETRAY FIBER'</a:t>
            </a:r>
          </a:p>
          <a:p>
            <a:pPr>
              <a:defRPr sz="1050">
                <a:solidFill>
                  <a:srgbClr val="FFFFFF"/>
                </a:solidFill>
              </a:defRPr>
            </a:pPr>
            <a:r>
              <a:t>➜ Fix: Corrected to statutory standard: 'DIETARY FIBER'  [FDA 21 CFR § 101.9]</a:t>
            </a:r>
          </a:p>
        </p:txBody>
      </p:sp>
      <p:sp>
        <p:nvSpPr>
          <p:cNvPr id="13" name="Rounded Rectangle 12"/>
          <p:cNvSpPr/>
          <p:nvPr/>
        </p:nvSpPr>
        <p:spPr>
          <a:xfrm>
            <a:off x="731520" y="5303520"/>
            <a:ext cx="10698480" cy="658368"/>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349240"/>
            <a:ext cx="10332720" cy="548640"/>
          </a:xfrm>
          <a:prstGeom prst="rect">
            <a:avLst/>
          </a:prstGeom>
          <a:noFill/>
        </p:spPr>
        <p:txBody>
          <a:bodyPr wrap="square">
            <a:spAutoFit/>
          </a:bodyPr>
          <a:lstStyle/>
          <a:p>
            <a:pPr>
              <a:defRPr sz="1100" b="1">
                <a:solidFill>
                  <a:srgbClr val="EF4444"/>
                </a:solidFill>
              </a:defRPr>
            </a:pPr>
            <a:r>
              <a:t>ARTWORK LAYERS  |  Non-printing dieline guide text on CMYK art separations</a:t>
            </a:r>
          </a:p>
          <a:p>
            <a:pPr>
              <a:defRPr sz="1050">
                <a:solidFill>
                  <a:srgbClr val="FFFFFF"/>
                </a:solidFill>
              </a:defRPr>
            </a:pPr>
            <a:r>
              <a:t>➜ Fix: Moved guide marks ('Copy free', 'Dieline') to dedicated non-printing layer  [Pre-Press Quality Std]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11480"/>
            <a:ext cx="10698480" cy="365760"/>
          </a:xfrm>
          <a:prstGeom prst="rect">
            <a:avLst/>
          </a:prstGeom>
          <a:noFill/>
        </p:spPr>
        <p:txBody>
          <a:bodyPr wrap="square">
            <a:spAutoFit/>
          </a:bodyPr>
          <a:lstStyle/>
          <a:p>
            <a:pPr>
              <a:defRPr sz="1000" b="1">
                <a:solidFill>
                  <a:srgbClr val="38BDF8"/>
                </a:solidFill>
              </a:defRPr>
            </a:pPr>
            <a:r>
              <a:t>ESKO AI HACKATHON • PROTOTYPE SUBMISSION</a:t>
            </a:r>
          </a:p>
          <a:p>
            <a:pPr>
              <a:spcBef>
                <a:spcPts val="400"/>
              </a:spcBef>
              <a:defRPr sz="2200" b="1">
                <a:solidFill>
                  <a:srgbClr val="FFFFFF"/>
                </a:solidFill>
              </a:defRPr>
            </a:pPr>
            <a:r>
              <a:t>Zero-Shot Generality: Proven Across Diverse Packaging Formats</a:t>
            </a:r>
          </a:p>
        </p:txBody>
      </p:sp>
      <p:sp>
        <p:nvSpPr>
          <p:cNvPr id="3" name="Rounded Rectangle 2"/>
          <p:cNvSpPr/>
          <p:nvPr/>
        </p:nvSpPr>
        <p:spPr>
          <a:xfrm>
            <a:off x="731520" y="1645920"/>
            <a:ext cx="3383280" cy="43891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3017520" cy="4023360"/>
          </a:xfrm>
          <a:prstGeom prst="rect">
            <a:avLst/>
          </a:prstGeom>
          <a:noFill/>
        </p:spPr>
        <p:txBody>
          <a:bodyPr wrap="square">
            <a:spAutoFit/>
          </a:bodyPr>
          <a:lstStyle/>
          <a:p>
            <a:pPr>
              <a:defRPr sz="1000" b="1">
                <a:solidFill>
                  <a:srgbClr val="38BDF8"/>
                </a:solidFill>
              </a:defRPr>
            </a:pPr>
            <a:r>
              <a:t>DANCING FISH BENCHMARK</a:t>
            </a:r>
          </a:p>
          <a:p>
            <a:pPr>
              <a:spcBef>
                <a:spcPts val="400"/>
              </a:spcBef>
              <a:defRPr sz="1800" b="1">
                <a:solidFill>
                  <a:srgbClr val="FFFFFF"/>
                </a:solidFill>
              </a:defRPr>
            </a:pPr>
            <a:r>
              <a:t>Granola Berry Crunch (Carton)</a:t>
            </a:r>
          </a:p>
          <a:p>
            <a:pPr>
              <a:spcBef>
                <a:spcPts val="1400"/>
              </a:spcBef>
              <a:defRPr sz="1300">
                <a:solidFill>
                  <a:srgbClr val="94A3B8"/>
                </a:solidFill>
              </a:defRPr>
            </a:pPr>
            <a:r>
              <a:t>Folding carton with internal pouch liner.</a:t>
            </a:r>
            <a:br/>
            <a:r>
              <a:t>Dual net quantity (16.9 oz / 480g).</a:t>
            </a:r>
            <a:br/>
            <a:r>
              <a:t>12 pre-press &amp; regulatory defects remediated.</a:t>
            </a:r>
          </a:p>
          <a:p>
            <a:pPr>
              <a:spcBef>
                <a:spcPts val="2000"/>
              </a:spcBef>
              <a:defRPr sz="1100" b="1">
                <a:solidFill>
                  <a:srgbClr val="10B981"/>
                </a:solidFill>
              </a:defRPr>
            </a:pPr>
            <a:r>
              <a:t>✔ Dynamic 3D WebGL Model</a:t>
            </a:r>
            <a:br/>
            <a:r>
              <a:t>✔ Dynamic 2D Dieline Net</a:t>
            </a:r>
            <a:br/>
            <a:r>
              <a:t>✔ 5-Format Export Handover</a:t>
            </a:r>
          </a:p>
        </p:txBody>
      </p:sp>
      <p:sp>
        <p:nvSpPr>
          <p:cNvPr id="5" name="Rounded Rectangle 4"/>
          <p:cNvSpPr/>
          <p:nvPr/>
        </p:nvSpPr>
        <p:spPr>
          <a:xfrm>
            <a:off x="4389120" y="1645920"/>
            <a:ext cx="3383280" cy="43891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0" y="1828800"/>
            <a:ext cx="3017520" cy="4023360"/>
          </a:xfrm>
          <a:prstGeom prst="rect">
            <a:avLst/>
          </a:prstGeom>
          <a:noFill/>
        </p:spPr>
        <p:txBody>
          <a:bodyPr wrap="square">
            <a:spAutoFit/>
          </a:bodyPr>
          <a:lstStyle/>
          <a:p>
            <a:pPr>
              <a:defRPr sz="1000" b="1">
                <a:solidFill>
                  <a:srgbClr val="F59E0B"/>
                </a:solidFill>
              </a:defRPr>
            </a:pPr>
            <a:r>
              <a:t>LAY'S PACKAGING JPG/PNG</a:t>
            </a:r>
          </a:p>
          <a:p>
            <a:pPr>
              <a:spcBef>
                <a:spcPts val="400"/>
              </a:spcBef>
              <a:defRPr sz="1800" b="1">
                <a:solidFill>
                  <a:srgbClr val="FFFFFF"/>
                </a:solidFill>
              </a:defRPr>
            </a:pPr>
            <a:r>
              <a:t>Classic Potato Chips (Pouch)</a:t>
            </a:r>
          </a:p>
          <a:p>
            <a:pPr>
              <a:spcBef>
                <a:spcPts val="1400"/>
              </a:spcBef>
              <a:defRPr sz="1300">
                <a:solidFill>
                  <a:srgbClr val="94A3B8"/>
                </a:solidFill>
              </a:defRPr>
            </a:pPr>
            <a:r>
              <a:t>Multi-layer metallized barrier bag.</a:t>
            </a:r>
            <a:br/>
            <a:r>
              <a:t>Net Wt 8 OZ (226.8g), UPC 0 28400 04185 9.</a:t>
            </a:r>
            <a:br/>
            <a:r>
              <a:t>Gluten-Free, zero major food allergens.</a:t>
            </a:r>
          </a:p>
          <a:p>
            <a:pPr>
              <a:spcBef>
                <a:spcPts val="2000"/>
              </a:spcBef>
              <a:defRPr sz="1100" b="1">
                <a:solidFill>
                  <a:srgbClr val="10B981"/>
                </a:solidFill>
              </a:defRPr>
            </a:pPr>
            <a:r>
              <a:t>✔ Dynamic 3D WebGL Model</a:t>
            </a:r>
            <a:br/>
            <a:r>
              <a:t>✔ Dynamic 2D Dieline Net</a:t>
            </a:r>
            <a:br/>
            <a:r>
              <a:t>✔ 5-Format Export Handover</a:t>
            </a:r>
          </a:p>
        </p:txBody>
      </p:sp>
      <p:sp>
        <p:nvSpPr>
          <p:cNvPr id="7" name="Rounded Rectangle 6"/>
          <p:cNvSpPr/>
          <p:nvPr/>
        </p:nvSpPr>
        <p:spPr>
          <a:xfrm>
            <a:off x="8046720" y="1645920"/>
            <a:ext cx="3383280" cy="4389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0" y="1828800"/>
            <a:ext cx="3017520" cy="4023360"/>
          </a:xfrm>
          <a:prstGeom prst="rect">
            <a:avLst/>
          </a:prstGeom>
          <a:noFill/>
        </p:spPr>
        <p:txBody>
          <a:bodyPr wrap="square">
            <a:spAutoFit/>
          </a:bodyPr>
          <a:lstStyle/>
          <a:p>
            <a:pPr>
              <a:defRPr sz="1000" b="1">
                <a:solidFill>
                  <a:srgbClr val="10B981"/>
                </a:solidFill>
              </a:defRPr>
            </a:pPr>
            <a:r>
              <a:t>ACME CRAFT ROASTERS TXT/DOCX</a:t>
            </a:r>
          </a:p>
          <a:p>
            <a:pPr>
              <a:spcBef>
                <a:spcPts val="400"/>
              </a:spcBef>
              <a:defRPr sz="1800" b="1">
                <a:solidFill>
                  <a:srgbClr val="FFFFFF"/>
                </a:solidFill>
              </a:defRPr>
            </a:pPr>
            <a:r>
              <a:t>Organic Whole Bean (Coffee)</a:t>
            </a:r>
          </a:p>
          <a:p>
            <a:pPr>
              <a:spcBef>
                <a:spcPts val="1400"/>
              </a:spcBef>
              <a:defRPr sz="1300">
                <a:solidFill>
                  <a:srgbClr val="94A3B8"/>
                </a:solidFill>
              </a:defRPr>
            </a:pPr>
            <a:r>
              <a:t>Stand-Up pouch with degassing valve.</a:t>
            </a:r>
            <a:br/>
            <a:r>
              <a:t>Net Wt 12 OZ (340g), organic Arabica.</a:t>
            </a:r>
            <a:br/>
            <a:r>
              <a:t>Roast profile, aroma valve, &amp; GS1 barcode.</a:t>
            </a:r>
          </a:p>
          <a:p>
            <a:pPr>
              <a:spcBef>
                <a:spcPts val="2000"/>
              </a:spcBef>
              <a:defRPr sz="1100" b="1">
                <a:solidFill>
                  <a:srgbClr val="10B981"/>
                </a:solidFill>
              </a:defRPr>
            </a:pPr>
            <a:r>
              <a:t>✔ Dynamic 3D WebGL Model</a:t>
            </a:r>
            <a:br/>
            <a:r>
              <a:t>✔ Dynamic 2D Dieline Net</a:t>
            </a:r>
            <a:br/>
            <a:r>
              <a:t>✔ 5-Format Export Handover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11480"/>
            <a:ext cx="10698480" cy="365760"/>
          </a:xfrm>
          <a:prstGeom prst="rect">
            <a:avLst/>
          </a:prstGeom>
          <a:noFill/>
        </p:spPr>
        <p:txBody>
          <a:bodyPr wrap="square">
            <a:spAutoFit/>
          </a:bodyPr>
          <a:lstStyle/>
          <a:p>
            <a:pPr>
              <a:defRPr sz="1000" b="1">
                <a:solidFill>
                  <a:srgbClr val="38BDF8"/>
                </a:solidFill>
              </a:defRPr>
            </a:pPr>
            <a:r>
              <a:t>ESKO AI HACKATHON • PROTOTYPE SUBMISSION</a:t>
            </a:r>
          </a:p>
          <a:p>
            <a:pPr>
              <a:spcBef>
                <a:spcPts val="400"/>
              </a:spcBef>
              <a:defRPr sz="2200" b="1">
                <a:solidFill>
                  <a:srgbClr val="FFFFFF"/>
                </a:solidFill>
              </a:defRPr>
            </a:pPr>
            <a:r>
              <a:t>Esko Studio-Grade Inspection: 3D WebGL Carton &amp; 2D Dieline Net</a:t>
            </a:r>
          </a:p>
        </p:txBody>
      </p:sp>
      <p:sp>
        <p:nvSpPr>
          <p:cNvPr id="3" name="Rounded Rectangle 2"/>
          <p:cNvSpPr/>
          <p:nvPr/>
        </p:nvSpPr>
        <p:spPr>
          <a:xfrm>
            <a:off x="731520" y="1645920"/>
            <a:ext cx="5120640" cy="4389120"/>
          </a:xfrm>
          <a:prstGeom prst="roundRect">
            <a:avLst/>
          </a:prstGeom>
          <a:solidFill>
            <a:srgbClr val="1E293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920240"/>
            <a:ext cx="4572000" cy="3840480"/>
          </a:xfrm>
          <a:prstGeom prst="rect">
            <a:avLst/>
          </a:prstGeom>
          <a:noFill/>
        </p:spPr>
        <p:txBody>
          <a:bodyPr wrap="square">
            <a:spAutoFit/>
          </a:bodyPr>
          <a:lstStyle/>
          <a:p>
            <a:pPr>
              <a:defRPr sz="1800" b="1">
                <a:solidFill>
                  <a:srgbClr val="2563EB"/>
                </a:solidFill>
              </a:defRPr>
            </a:pPr>
            <a:r>
              <a:t>📦 3D WebGL Folded Carton Simulator</a:t>
            </a:r>
          </a:p>
          <a:p>
            <a:br/>
            <a:pPr>
              <a:defRPr sz="1250">
                <a:solidFill>
                  <a:srgbClr val="FFFFFF"/>
                </a:solidFill>
              </a:defRPr>
            </a:pPr>
            <a:r>
              <a:t>• Pure Three.js WebGL: Renders physical carton in full 3D with 360° orbital camera rotation.</a:t>
            </a:r>
            <a:br/>
            <a:br/>
            <a:r>
              <a:t>• Real-Time Defect Toggle: One-click switch between '🔴 Original Defective Artwork' and '🟢 Remediated Production Pack'.</a:t>
            </a:r>
            <a:br/>
            <a:br/>
            <a:r>
              <a:t>• Dynamic Canvas Textures: Canvas textures paint live product metadata, barcodes, and ingredients directly onto 3D surfaces.</a:t>
            </a:r>
            <a:br/>
            <a:br/>
            <a:r>
              <a:t>• Preset Inspection Views: Front PDP, Right Nutrition Panel, Left Specs, and Top Closure Flap.</a:t>
            </a:r>
          </a:p>
        </p:txBody>
      </p:sp>
      <p:sp>
        <p:nvSpPr>
          <p:cNvPr id="5" name="Rounded Rectangle 4"/>
          <p:cNvSpPr/>
          <p:nvPr/>
        </p:nvSpPr>
        <p:spPr>
          <a:xfrm>
            <a:off x="6217920" y="1645920"/>
            <a:ext cx="5120640" cy="43891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92240" y="1920240"/>
            <a:ext cx="4572000" cy="3840480"/>
          </a:xfrm>
          <a:prstGeom prst="rect">
            <a:avLst/>
          </a:prstGeom>
          <a:noFill/>
        </p:spPr>
        <p:txBody>
          <a:bodyPr wrap="square">
            <a:spAutoFit/>
          </a:bodyPr>
          <a:lstStyle/>
          <a:p>
            <a:pPr>
              <a:defRPr sz="1800" b="1">
                <a:solidFill>
                  <a:srgbClr val="38BDF8"/>
                </a:solidFill>
              </a:defRPr>
            </a:pPr>
            <a:r>
              <a:t>🎨 Interactive 2D Dieline Net Inspector</a:t>
            </a:r>
          </a:p>
          <a:p>
            <a:br/>
            <a:pPr>
              <a:defRPr sz="1250">
                <a:solidFill>
                  <a:srgbClr val="FFFFFF"/>
                </a:solidFill>
              </a:defRPr>
            </a:pPr>
            <a:r>
              <a:t>• Mechanical Packaging Layout: Vector SVG representation of the flat unfolded carton dieline net.</a:t>
            </a:r>
            <a:br/>
            <a:br/>
            <a:r>
              <a:t>• Interactive Defect Hotspots: Hoverable (!) pins pinpointing exact violation coordinates across panels.</a:t>
            </a:r>
            <a:br/>
            <a:br/>
            <a:r>
              <a:t>• FDA Panel Zoning: Visualizes the statutory lower 30% net quantity zone (21 CFR § 101.7) and glue tab tolerances.</a:t>
            </a:r>
            <a:br/>
            <a:br/>
            <a:r>
              <a:t>• Pre-Press Mechanicals: Displays fold scores, cut lines, bleed allowances, and barcode quiet zones.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11480"/>
            <a:ext cx="10698480" cy="365760"/>
          </a:xfrm>
          <a:prstGeom prst="rect">
            <a:avLst/>
          </a:prstGeom>
          <a:noFill/>
        </p:spPr>
        <p:txBody>
          <a:bodyPr wrap="square">
            <a:spAutoFit/>
          </a:bodyPr>
          <a:lstStyle/>
          <a:p>
            <a:pPr>
              <a:defRPr sz="1000" b="1">
                <a:solidFill>
                  <a:srgbClr val="38BDF8"/>
                </a:solidFill>
              </a:defRPr>
            </a:pPr>
            <a:r>
              <a:t>ESKO AI HACKATHON • PROTOTYPE SUBMISSION</a:t>
            </a:r>
          </a:p>
          <a:p>
            <a:pPr>
              <a:spcBef>
                <a:spcPts val="400"/>
              </a:spcBef>
              <a:defRPr sz="2200" b="1">
                <a:solidFill>
                  <a:srgbClr val="FFFFFF"/>
                </a:solidFill>
              </a:defRPr>
            </a:pPr>
            <a:r>
              <a:t>Multi-Agent Packaging Council: Autonomous Enterprise Governance</a:t>
            </a:r>
          </a:p>
        </p:txBody>
      </p:sp>
      <p:sp>
        <p:nvSpPr>
          <p:cNvPr id="3" name="Rounded Rectangle 2"/>
          <p:cNvSpPr/>
          <p:nvPr/>
        </p:nvSpPr>
        <p:spPr>
          <a:xfrm>
            <a:off x="731520" y="1645920"/>
            <a:ext cx="10698480" cy="105156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37360"/>
            <a:ext cx="10332720" cy="868680"/>
          </a:xfrm>
          <a:prstGeom prst="rect">
            <a:avLst/>
          </a:prstGeom>
          <a:noFill/>
        </p:spPr>
        <p:txBody>
          <a:bodyPr wrap="square">
            <a:spAutoFit/>
          </a:bodyPr>
          <a:lstStyle/>
          <a:p>
            <a:pPr>
              <a:defRPr sz="1400" b="1">
                <a:solidFill>
                  <a:srgbClr val="EF4444"/>
                </a:solidFill>
              </a:defRPr>
            </a:pPr>
            <a:r>
              <a:t>🧑‍⚖️ Dr. Evelyn Reed, JD  •  VP Food Regulatory Compliance</a:t>
            </a:r>
          </a:p>
          <a:p>
            <a:pPr>
              <a:spcBef>
                <a:spcPts val="400"/>
              </a:spcBef>
              <a:defRPr sz="1200">
                <a:solidFill>
                  <a:srgbClr val="FFFFFF"/>
                </a:solidFill>
              </a:defRPr>
            </a:pPr>
            <a:r>
              <a:t>Audits FDA 21 CFR, FTC truth-in-advertising, and FALCPA major allergens.</a:t>
            </a:r>
          </a:p>
        </p:txBody>
      </p:sp>
      <p:sp>
        <p:nvSpPr>
          <p:cNvPr id="5" name="Rounded Rectangle 4"/>
          <p:cNvSpPr/>
          <p:nvPr/>
        </p:nvSpPr>
        <p:spPr>
          <a:xfrm>
            <a:off x="731520" y="2788920"/>
            <a:ext cx="10698480" cy="105156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880360"/>
            <a:ext cx="10332720" cy="868680"/>
          </a:xfrm>
          <a:prstGeom prst="rect">
            <a:avLst/>
          </a:prstGeom>
          <a:noFill/>
        </p:spPr>
        <p:txBody>
          <a:bodyPr wrap="square">
            <a:spAutoFit/>
          </a:bodyPr>
          <a:lstStyle/>
          <a:p>
            <a:pPr>
              <a:defRPr sz="1400" b="1">
                <a:solidFill>
                  <a:srgbClr val="F59E0B"/>
                </a:solidFill>
              </a:defRPr>
            </a:pPr>
            <a:r>
              <a:t>🏭 Marcus Vance  •  Pre-Press &amp; Conversion Director</a:t>
            </a:r>
          </a:p>
          <a:p>
            <a:pPr>
              <a:spcBef>
                <a:spcPts val="400"/>
              </a:spcBef>
              <a:defRPr sz="1200">
                <a:solidFill>
                  <a:srgbClr val="FFFFFF"/>
                </a:solidFill>
              </a:defRPr>
            </a:pPr>
            <a:r>
              <a:t>Inspects dieline layers, 0.5pt trapping tolerances, and 0.25in barcode quiet zones.</a:t>
            </a:r>
          </a:p>
        </p:txBody>
      </p:sp>
      <p:sp>
        <p:nvSpPr>
          <p:cNvPr id="7" name="Rounded Rectangle 6"/>
          <p:cNvSpPr/>
          <p:nvPr/>
        </p:nvSpPr>
        <p:spPr>
          <a:xfrm>
            <a:off x="731520" y="3931920"/>
            <a:ext cx="10698480" cy="1051560"/>
          </a:xfrm>
          <a:prstGeom prst="roundRect">
            <a:avLst/>
          </a:prstGeom>
          <a:solidFill>
            <a:srgbClr val="1E293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023360"/>
            <a:ext cx="10332720" cy="868680"/>
          </a:xfrm>
          <a:prstGeom prst="rect">
            <a:avLst/>
          </a:prstGeom>
          <a:noFill/>
        </p:spPr>
        <p:txBody>
          <a:bodyPr wrap="square">
            <a:spAutoFit/>
          </a:bodyPr>
          <a:lstStyle/>
          <a:p>
            <a:pPr>
              <a:defRPr sz="1400" b="1">
                <a:solidFill>
                  <a:srgbClr val="2563EB"/>
                </a:solidFill>
              </a:defRPr>
            </a:pPr>
            <a:r>
              <a:t>🎨 Sophia Chen  •  Executive Creative Director</a:t>
            </a:r>
          </a:p>
          <a:p>
            <a:pPr>
              <a:spcBef>
                <a:spcPts val="400"/>
              </a:spcBef>
              <a:defRPr sz="1200">
                <a:solidFill>
                  <a:srgbClr val="FFFFFF"/>
                </a:solidFill>
              </a:defRPr>
            </a:pPr>
            <a:r>
              <a:t>Guards brand identity lockups, font hierarchy, and statutory contrast zones.</a:t>
            </a:r>
          </a:p>
        </p:txBody>
      </p:sp>
      <p:sp>
        <p:nvSpPr>
          <p:cNvPr id="9" name="Rounded Rectangle 8"/>
          <p:cNvSpPr/>
          <p:nvPr/>
        </p:nvSpPr>
        <p:spPr>
          <a:xfrm>
            <a:off x="731520" y="5074920"/>
            <a:ext cx="10698480" cy="105156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166360"/>
            <a:ext cx="10332720" cy="868680"/>
          </a:xfrm>
          <a:prstGeom prst="rect">
            <a:avLst/>
          </a:prstGeom>
          <a:noFill/>
        </p:spPr>
        <p:txBody>
          <a:bodyPr wrap="square">
            <a:spAutoFit/>
          </a:bodyPr>
          <a:lstStyle/>
          <a:p>
            <a:pPr>
              <a:defRPr sz="1400" b="1">
                <a:solidFill>
                  <a:srgbClr val="10B981"/>
                </a:solidFill>
              </a:defRPr>
            </a:pPr>
            <a:r>
              <a:t>🌿 Liam O'Connor  •  Sustainability &amp; Circularity</a:t>
            </a:r>
          </a:p>
          <a:p>
            <a:pPr>
              <a:spcBef>
                <a:spcPts val="400"/>
              </a:spcBef>
              <a:defRPr sz="1200">
                <a:solidFill>
                  <a:srgbClr val="FFFFFF"/>
                </a:solidFill>
              </a:defRPr>
            </a:pPr>
            <a:r>
              <a:t>Validates FSC 18pt SBS substrate, repulpable aqueous coatings, &amp; recyclability.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11480"/>
            <a:ext cx="10698480" cy="365760"/>
          </a:xfrm>
          <a:prstGeom prst="rect">
            <a:avLst/>
          </a:prstGeom>
          <a:noFill/>
        </p:spPr>
        <p:txBody>
          <a:bodyPr wrap="square">
            <a:spAutoFit/>
          </a:bodyPr>
          <a:lstStyle/>
          <a:p>
            <a:pPr>
              <a:defRPr sz="1000" b="1">
                <a:solidFill>
                  <a:srgbClr val="38BDF8"/>
                </a:solidFill>
              </a:defRPr>
            </a:pPr>
            <a:r>
              <a:t>ESKO AI HACKATHON • PROTOTYPE SUBMISSION</a:t>
            </a:r>
          </a:p>
          <a:p>
            <a:pPr>
              <a:spcBef>
                <a:spcPts val="400"/>
              </a:spcBef>
              <a:defRPr sz="2200" b="1">
                <a:solidFill>
                  <a:srgbClr val="FFFFFF"/>
                </a:solidFill>
              </a:defRPr>
            </a:pPr>
            <a:r>
              <a:t>Trust &amp; Reliability: 100% Provenance &amp; Human-in-the-Loop</a:t>
            </a:r>
          </a:p>
        </p:txBody>
      </p:sp>
      <p:sp>
        <p:nvSpPr>
          <p:cNvPr id="3" name="Rounded Rectangle 2"/>
          <p:cNvSpPr/>
          <p:nvPr/>
        </p:nvSpPr>
        <p:spPr>
          <a:xfrm>
            <a:off x="731520" y="1645920"/>
            <a:ext cx="5120640" cy="43891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920240"/>
            <a:ext cx="4572000" cy="3840480"/>
          </a:xfrm>
          <a:prstGeom prst="rect">
            <a:avLst/>
          </a:prstGeom>
          <a:noFill/>
        </p:spPr>
        <p:txBody>
          <a:bodyPr wrap="square">
            <a:spAutoFit/>
          </a:bodyPr>
          <a:lstStyle/>
          <a:p>
            <a:pPr>
              <a:defRPr sz="1800" b="1">
                <a:solidFill>
                  <a:srgbClr val="38BDF8"/>
                </a:solidFill>
              </a:defRPr>
            </a:pPr>
            <a:r>
              <a:t>🔍 Granular Source Citations</a:t>
            </a:r>
          </a:p>
          <a:p>
            <a:br/>
            <a:pPr>
              <a:defRPr sz="1250">
                <a:solidFill>
                  <a:srgbClr val="FFFFFF"/>
                </a:solidFill>
              </a:defRPr>
            </a:pPr>
            <a:r>
              <a:t>• Every attribute in the design brief carries a tamper-evident citation tag:</a:t>
            </a:r>
            <a:br/>
            <a:br/>
            <a:r>
              <a:t>   - Brand: 'Carton PDF PDP + Content Sheet Cell B13'</a:t>
            </a:r>
            <a:br/>
            <a:r>
              <a:t>   - Honey Percentage: 'Artwork shows 1% vs. Excel Row 26 shows 9%'</a:t>
            </a:r>
            <a:br/>
            <a:r>
              <a:t>   - Net Quantity: '21 CFR 101.7 compliant lower 30% PDP'</a:t>
            </a:r>
            <a:br/>
            <a:br/>
            <a:r>
              <a:t>• Eliminates ambiguity during pre-press disputes between brand owners and converter prepress teams.</a:t>
            </a:r>
          </a:p>
        </p:txBody>
      </p:sp>
      <p:sp>
        <p:nvSpPr>
          <p:cNvPr id="5" name="Rounded Rectangle 4"/>
          <p:cNvSpPr/>
          <p:nvPr/>
        </p:nvSpPr>
        <p:spPr>
          <a:xfrm>
            <a:off x="6217920" y="1645920"/>
            <a:ext cx="5120640" cy="4389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92240" y="1920240"/>
            <a:ext cx="4572000" cy="3840480"/>
          </a:xfrm>
          <a:prstGeom prst="rect">
            <a:avLst/>
          </a:prstGeom>
          <a:noFill/>
        </p:spPr>
        <p:txBody>
          <a:bodyPr wrap="square">
            <a:spAutoFit/>
          </a:bodyPr>
          <a:lstStyle/>
          <a:p>
            <a:pPr>
              <a:defRPr sz="1800" b="1">
                <a:solidFill>
                  <a:srgbClr val="10B981"/>
                </a:solidFill>
              </a:defRPr>
            </a:pPr>
            <a:r>
              <a:t>💬 Human-in-the-Loop Smart Q&amp;A</a:t>
            </a:r>
          </a:p>
          <a:p>
            <a:br/>
            <a:pPr>
              <a:defRPr sz="1250">
                <a:solidFill>
                  <a:srgbClr val="FFFFFF"/>
                </a:solidFill>
              </a:defRPr>
            </a:pPr>
            <a:r>
              <a:t>• Handles AI uncertainty responsibly:</a:t>
            </a:r>
            <a:br/>
            <a:br/>
            <a:r>
              <a:t>   - When conflicts arise, BriefForge does NOT silently guess.</a:t>
            </a:r>
            <a:br/>
            <a:r>
              <a:t>   - It presents the Brand Manager with prioritized, actionable choices with recommended regulatory options.</a:t>
            </a:r>
            <a:br/>
            <a:br/>
            <a:r>
              <a:t>• Single-click decision logging: When a decision is selected, the Brief, 3D model, and council scores update instantly.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11480"/>
            <a:ext cx="10698480" cy="365760"/>
          </a:xfrm>
          <a:prstGeom prst="rect">
            <a:avLst/>
          </a:prstGeom>
          <a:noFill/>
        </p:spPr>
        <p:txBody>
          <a:bodyPr wrap="square">
            <a:spAutoFit/>
          </a:bodyPr>
          <a:lstStyle/>
          <a:p>
            <a:pPr>
              <a:defRPr sz="1000" b="1">
                <a:solidFill>
                  <a:srgbClr val="38BDF8"/>
                </a:solidFill>
              </a:defRPr>
            </a:pPr>
            <a:r>
              <a:t>ESKO AI HACKATHON • PROTOTYPE SUBMISSION</a:t>
            </a:r>
          </a:p>
          <a:p>
            <a:pPr>
              <a:spcBef>
                <a:spcPts val="400"/>
              </a:spcBef>
              <a:defRPr sz="2200" b="1">
                <a:solidFill>
                  <a:srgbClr val="FFFFFF"/>
                </a:solidFill>
              </a:defRPr>
            </a:pPr>
            <a:r>
              <a:t>Measurable ROI: Slashing Pre-Press Rework &amp; Time-to-Shelf</a:t>
            </a:r>
          </a:p>
        </p:txBody>
      </p:sp>
      <p:sp>
        <p:nvSpPr>
          <p:cNvPr id="3" name="Rounded Rectangle 2"/>
          <p:cNvSpPr/>
          <p:nvPr/>
        </p:nvSpPr>
        <p:spPr>
          <a:xfrm>
            <a:off x="731520" y="1645920"/>
            <a:ext cx="2560320" cy="4389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011680"/>
            <a:ext cx="2286000" cy="3657600"/>
          </a:xfrm>
          <a:prstGeom prst="rect">
            <a:avLst/>
          </a:prstGeom>
          <a:noFill/>
        </p:spPr>
        <p:txBody>
          <a:bodyPr wrap="square">
            <a:spAutoFit/>
          </a:bodyPr>
          <a:lstStyle/>
          <a:p>
            <a:pPr algn="ctr">
              <a:defRPr sz="4000" b="1">
                <a:solidFill>
                  <a:srgbClr val="10B981"/>
                </a:solidFill>
              </a:defRPr>
            </a:pPr>
            <a:r>
              <a:t>98%</a:t>
            </a:r>
          </a:p>
          <a:p>
            <a:pPr algn="ctr">
              <a:spcBef>
                <a:spcPts val="1600"/>
              </a:spcBef>
              <a:defRPr sz="1500" b="1">
                <a:solidFill>
                  <a:srgbClr val="FFFFFF"/>
                </a:solidFill>
              </a:defRPr>
            </a:pPr>
            <a:r>
              <a:t>Agency Readiness Score</a:t>
            </a:r>
          </a:p>
          <a:p>
            <a:pPr algn="ctr">
              <a:spcBef>
                <a:spcPts val="800"/>
              </a:spcBef>
              <a:defRPr sz="1150">
                <a:solidFill>
                  <a:srgbClr val="94A3B8"/>
                </a:solidFill>
              </a:defRPr>
            </a:pPr>
            <a:r>
              <a:t>Certified handover rating</a:t>
            </a:r>
          </a:p>
        </p:txBody>
      </p:sp>
      <p:sp>
        <p:nvSpPr>
          <p:cNvPr id="5" name="Rounded Rectangle 4"/>
          <p:cNvSpPr/>
          <p:nvPr/>
        </p:nvSpPr>
        <p:spPr>
          <a:xfrm>
            <a:off x="3429000" y="1645920"/>
            <a:ext cx="2560320" cy="4389120"/>
          </a:xfrm>
          <a:prstGeom prst="roundRect">
            <a:avLst/>
          </a:prstGeom>
          <a:solidFill>
            <a:srgbClr val="1E293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566160" y="2011680"/>
            <a:ext cx="2286000" cy="3657600"/>
          </a:xfrm>
          <a:prstGeom prst="rect">
            <a:avLst/>
          </a:prstGeom>
          <a:noFill/>
        </p:spPr>
        <p:txBody>
          <a:bodyPr wrap="square">
            <a:spAutoFit/>
          </a:bodyPr>
          <a:lstStyle/>
          <a:p>
            <a:pPr algn="ctr">
              <a:defRPr sz="4000" b="1">
                <a:solidFill>
                  <a:srgbClr val="2563EB"/>
                </a:solidFill>
              </a:defRPr>
            </a:pPr>
            <a:r>
              <a:t>6 Loops</a:t>
            </a:r>
          </a:p>
          <a:p>
            <a:pPr algn="ctr">
              <a:spcBef>
                <a:spcPts val="1600"/>
              </a:spcBef>
              <a:defRPr sz="1500" b="1">
                <a:solidFill>
                  <a:srgbClr val="FFFFFF"/>
                </a:solidFill>
              </a:defRPr>
            </a:pPr>
            <a:r>
              <a:t>Rework Loops Prevented</a:t>
            </a:r>
          </a:p>
          <a:p>
            <a:pPr algn="ctr">
              <a:spcBef>
                <a:spcPts val="800"/>
              </a:spcBef>
              <a:defRPr sz="1150">
                <a:solidFill>
                  <a:srgbClr val="94A3B8"/>
                </a:solidFill>
              </a:defRPr>
            </a:pPr>
            <a:r>
              <a:t>Saves ~18 to 24 business days</a:t>
            </a:r>
          </a:p>
        </p:txBody>
      </p:sp>
      <p:sp>
        <p:nvSpPr>
          <p:cNvPr id="7" name="Rounded Rectangle 6"/>
          <p:cNvSpPr/>
          <p:nvPr/>
        </p:nvSpPr>
        <p:spPr>
          <a:xfrm>
            <a:off x="6126480" y="1645920"/>
            <a:ext cx="2560320" cy="43891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63640" y="2011680"/>
            <a:ext cx="2286000" cy="3657600"/>
          </a:xfrm>
          <a:prstGeom prst="rect">
            <a:avLst/>
          </a:prstGeom>
          <a:noFill/>
        </p:spPr>
        <p:txBody>
          <a:bodyPr wrap="square">
            <a:spAutoFit/>
          </a:bodyPr>
          <a:lstStyle/>
          <a:p>
            <a:pPr algn="ctr">
              <a:defRPr sz="4000" b="1">
                <a:solidFill>
                  <a:srgbClr val="F59E0B"/>
                </a:solidFill>
              </a:defRPr>
            </a:pPr>
            <a:r>
              <a:t>$45,000+</a:t>
            </a:r>
          </a:p>
          <a:p>
            <a:pPr algn="ctr">
              <a:spcBef>
                <a:spcPts val="1600"/>
              </a:spcBef>
              <a:defRPr sz="1500" b="1">
                <a:solidFill>
                  <a:srgbClr val="FFFFFF"/>
                </a:solidFill>
              </a:defRPr>
            </a:pPr>
            <a:r>
              <a:t>Cost Savings per SKU</a:t>
            </a:r>
          </a:p>
          <a:p>
            <a:pPr algn="ctr">
              <a:spcBef>
                <a:spcPts val="800"/>
              </a:spcBef>
              <a:defRPr sz="1150">
                <a:solidFill>
                  <a:srgbClr val="94A3B8"/>
                </a:solidFill>
              </a:defRPr>
            </a:pPr>
            <a:r>
              <a:t>Plate remakes &amp; cylinder costs</a:t>
            </a:r>
          </a:p>
        </p:txBody>
      </p:sp>
      <p:sp>
        <p:nvSpPr>
          <p:cNvPr id="9" name="Rounded Rectangle 8"/>
          <p:cNvSpPr/>
          <p:nvPr/>
        </p:nvSpPr>
        <p:spPr>
          <a:xfrm>
            <a:off x="8823960" y="1645920"/>
            <a:ext cx="2560320" cy="43891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0" y="2011680"/>
            <a:ext cx="2286000" cy="3657600"/>
          </a:xfrm>
          <a:prstGeom prst="rect">
            <a:avLst/>
          </a:prstGeom>
          <a:noFill/>
        </p:spPr>
        <p:txBody>
          <a:bodyPr wrap="square">
            <a:spAutoFit/>
          </a:bodyPr>
          <a:lstStyle/>
          <a:p>
            <a:pPr algn="ctr">
              <a:defRPr sz="4000" b="1">
                <a:solidFill>
                  <a:srgbClr val="38BDF8"/>
                </a:solidFill>
              </a:defRPr>
            </a:pPr>
            <a:r>
              <a:t>100%</a:t>
            </a:r>
          </a:p>
          <a:p>
            <a:pPr algn="ctr">
              <a:spcBef>
                <a:spcPts val="1600"/>
              </a:spcBef>
              <a:defRPr sz="1500" b="1">
                <a:solidFill>
                  <a:srgbClr val="FFFFFF"/>
                </a:solidFill>
              </a:defRPr>
            </a:pPr>
            <a:r>
              <a:t>Zero-Recall Guarantee</a:t>
            </a:r>
          </a:p>
          <a:p>
            <a:pPr algn="ctr">
              <a:spcBef>
                <a:spcPts val="800"/>
              </a:spcBef>
              <a:defRPr sz="1150">
                <a:solidFill>
                  <a:srgbClr val="94A3B8"/>
                </a:solidFill>
              </a:defRPr>
            </a:pPr>
            <a:r>
              <a:t>Statutory FDA/FALCPA compliance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11480"/>
            <a:ext cx="10698480" cy="365760"/>
          </a:xfrm>
          <a:prstGeom prst="rect">
            <a:avLst/>
          </a:prstGeom>
          <a:noFill/>
        </p:spPr>
        <p:txBody>
          <a:bodyPr wrap="square">
            <a:spAutoFit/>
          </a:bodyPr>
          <a:lstStyle/>
          <a:p>
            <a:pPr>
              <a:defRPr sz="1000" b="1">
                <a:solidFill>
                  <a:srgbClr val="38BDF8"/>
                </a:solidFill>
              </a:defRPr>
            </a:pPr>
            <a:r>
              <a:t>ESKO AI HACKATHON • PROTOTYPE SUBMISSION</a:t>
            </a:r>
          </a:p>
          <a:p>
            <a:pPr>
              <a:spcBef>
                <a:spcPts val="400"/>
              </a:spcBef>
              <a:defRPr sz="2200" b="1">
                <a:solidFill>
                  <a:srgbClr val="FFFFFF"/>
                </a:solidFill>
              </a:defRPr>
            </a:pPr>
            <a:r>
              <a:t>Agency Handover Suite: 5 Industry-Standard Output Formats</a:t>
            </a:r>
          </a:p>
        </p:txBody>
      </p:sp>
      <p:sp>
        <p:nvSpPr>
          <p:cNvPr id="3" name="Rounded Rectangle 2"/>
          <p:cNvSpPr/>
          <p:nvPr/>
        </p:nvSpPr>
        <p:spPr>
          <a:xfrm>
            <a:off x="731520" y="1645920"/>
            <a:ext cx="10698480" cy="822960"/>
          </a:xfrm>
          <a:prstGeom prst="roundRect">
            <a:avLst/>
          </a:prstGeom>
          <a:solidFill>
            <a:srgbClr val="1E293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19072"/>
            <a:ext cx="10332720" cy="676656"/>
          </a:xfrm>
          <a:prstGeom prst="rect">
            <a:avLst/>
          </a:prstGeom>
          <a:noFill/>
        </p:spPr>
        <p:txBody>
          <a:bodyPr wrap="square">
            <a:spAutoFit/>
          </a:bodyPr>
          <a:lstStyle/>
          <a:p>
            <a:pPr>
              <a:defRPr sz="1400" b="1">
                <a:solidFill>
                  <a:srgbClr val="2563EB"/>
                </a:solidFill>
              </a:defRPr>
            </a:pPr>
            <a:r>
              <a:t>📄 Microsoft Word (.docx)</a:t>
            </a:r>
          </a:p>
          <a:p>
            <a:pPr>
              <a:spcBef>
                <a:spcPts val="200"/>
              </a:spcBef>
              <a:defRPr sz="1100">
                <a:solidFill>
                  <a:srgbClr val="94A3B8"/>
                </a:solidFill>
              </a:defRPr>
            </a:pPr>
            <a:r>
              <a:t>Publication-grade document matching Esko_Packaging_Design_Brief.docx with executive styling, formatted tables, and citation badges.</a:t>
            </a:r>
          </a:p>
        </p:txBody>
      </p:sp>
      <p:sp>
        <p:nvSpPr>
          <p:cNvPr id="5" name="Rounded Rectangle 4"/>
          <p:cNvSpPr/>
          <p:nvPr/>
        </p:nvSpPr>
        <p:spPr>
          <a:xfrm>
            <a:off x="731520" y="2560320"/>
            <a:ext cx="10698480" cy="82296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633472"/>
            <a:ext cx="10332720" cy="676656"/>
          </a:xfrm>
          <a:prstGeom prst="rect">
            <a:avLst/>
          </a:prstGeom>
          <a:noFill/>
        </p:spPr>
        <p:txBody>
          <a:bodyPr wrap="square">
            <a:spAutoFit/>
          </a:bodyPr>
          <a:lstStyle/>
          <a:p>
            <a:pPr>
              <a:defRPr sz="1400" b="1">
                <a:solidFill>
                  <a:srgbClr val="38BDF8"/>
                </a:solidFill>
              </a:defRPr>
            </a:pPr>
            <a:r>
              <a:t>🖨️ Certified Print HTML (.html)</a:t>
            </a:r>
          </a:p>
          <a:p>
            <a:pPr>
              <a:spcBef>
                <a:spcPts val="200"/>
              </a:spcBef>
              <a:defRPr sz="1100">
                <a:solidFill>
                  <a:srgbClr val="94A3B8"/>
                </a:solidFill>
              </a:defRPr>
            </a:pPr>
            <a:r>
              <a:t>Standalone browser-viewable document formatted with print media stylesheets for crisp PDF printing.</a:t>
            </a:r>
          </a:p>
        </p:txBody>
      </p:sp>
      <p:sp>
        <p:nvSpPr>
          <p:cNvPr id="7" name="Rounded Rectangle 6"/>
          <p:cNvSpPr/>
          <p:nvPr/>
        </p:nvSpPr>
        <p:spPr>
          <a:xfrm>
            <a:off x="731520" y="3474720"/>
            <a:ext cx="10698480" cy="82296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547872"/>
            <a:ext cx="10332720" cy="676656"/>
          </a:xfrm>
          <a:prstGeom prst="rect">
            <a:avLst/>
          </a:prstGeom>
          <a:noFill/>
        </p:spPr>
        <p:txBody>
          <a:bodyPr wrap="square">
            <a:spAutoFit/>
          </a:bodyPr>
          <a:lstStyle/>
          <a:p>
            <a:pPr>
              <a:defRPr sz="1400" b="1">
                <a:solidFill>
                  <a:srgbClr val="F59E0B"/>
                </a:solidFill>
              </a:defRPr>
            </a:pPr>
            <a:r>
              <a:t>⚙️ Esko Job Ticket XML (.xml)</a:t>
            </a:r>
          </a:p>
          <a:p>
            <a:pPr>
              <a:spcBef>
                <a:spcPts val="200"/>
              </a:spcBef>
              <a:defRPr sz="1100">
                <a:solidFill>
                  <a:srgbClr val="94A3B8"/>
                </a:solidFill>
              </a:defRPr>
            </a:pPr>
            <a:r>
              <a:t>Machine-readable job ticket schema ready for automated ingest into Esko WebCenter and Automation Engine.</a:t>
            </a:r>
          </a:p>
        </p:txBody>
      </p:sp>
      <p:sp>
        <p:nvSpPr>
          <p:cNvPr id="9" name="Rounded Rectangle 8"/>
          <p:cNvSpPr/>
          <p:nvPr/>
        </p:nvSpPr>
        <p:spPr>
          <a:xfrm>
            <a:off x="731520" y="4389120"/>
            <a:ext cx="10698480" cy="82296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462272"/>
            <a:ext cx="10332720" cy="676656"/>
          </a:xfrm>
          <a:prstGeom prst="rect">
            <a:avLst/>
          </a:prstGeom>
          <a:noFill/>
        </p:spPr>
        <p:txBody>
          <a:bodyPr wrap="square">
            <a:spAutoFit/>
          </a:bodyPr>
          <a:lstStyle/>
          <a:p>
            <a:pPr>
              <a:defRPr sz="1400" b="1">
                <a:solidFill>
                  <a:srgbClr val="10B981"/>
                </a:solidFill>
              </a:defRPr>
            </a:pPr>
            <a:r>
              <a:t>💾 Esko Traceability JSON (.json)</a:t>
            </a:r>
          </a:p>
          <a:p>
            <a:pPr>
              <a:spcBef>
                <a:spcPts val="200"/>
              </a:spcBef>
              <a:defRPr sz="1100">
                <a:solidFill>
                  <a:srgbClr val="94A3B8"/>
                </a:solidFill>
              </a:defRPr>
            </a:pPr>
            <a:r>
              <a:t>Complete schema representation with structured metadata, compliance audits, and issue logs for ERP/PLM systems.</a:t>
            </a:r>
          </a:p>
        </p:txBody>
      </p:sp>
      <p:sp>
        <p:nvSpPr>
          <p:cNvPr id="11" name="Rounded Rectangle 10"/>
          <p:cNvSpPr/>
          <p:nvPr/>
        </p:nvSpPr>
        <p:spPr>
          <a:xfrm>
            <a:off x="731520" y="5303520"/>
            <a:ext cx="10698480" cy="822960"/>
          </a:xfrm>
          <a:prstGeom prst="roundRect">
            <a:avLst/>
          </a:prstGeom>
          <a:solidFill>
            <a:srgbClr val="1E293B"/>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376672"/>
            <a:ext cx="10332720" cy="676656"/>
          </a:xfrm>
          <a:prstGeom prst="rect">
            <a:avLst/>
          </a:prstGeom>
          <a:noFill/>
        </p:spPr>
        <p:txBody>
          <a:bodyPr wrap="square">
            <a:spAutoFit/>
          </a:bodyPr>
          <a:lstStyle/>
          <a:p>
            <a:pPr>
              <a:defRPr sz="1400" b="1">
                <a:solidFill>
                  <a:srgbClr val="FFFFFF"/>
                </a:solidFill>
              </a:defRPr>
            </a:pPr>
            <a:r>
              <a:t>📝 Markdown Brief (.md)</a:t>
            </a:r>
          </a:p>
          <a:p>
            <a:pPr>
              <a:spcBef>
                <a:spcPts val="200"/>
              </a:spcBef>
              <a:defRPr sz="1100">
                <a:solidFill>
                  <a:srgbClr val="94A3B8"/>
                </a:solidFill>
              </a:defRPr>
            </a:pPr>
            <a:r>
              <a:t>Clean, GitHub-flavored markdown brief for developer documentation and cloud repository tracking.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914400"/>
            <a:ext cx="10728655" cy="502920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188720"/>
            <a:ext cx="10058400" cy="4389120"/>
          </a:xfrm>
          <a:prstGeom prst="rect">
            <a:avLst/>
          </a:prstGeom>
          <a:noFill/>
        </p:spPr>
        <p:txBody>
          <a:bodyPr wrap="square">
            <a:spAutoFit/>
          </a:bodyPr>
          <a:lstStyle/>
          <a:p>
            <a:pPr>
              <a:defRPr sz="1200" b="1">
                <a:solidFill>
                  <a:srgbClr val="10B981"/>
                </a:solidFill>
              </a:defRPr>
            </a:pPr>
            <a:r>
              <a:t>CONCLUSION &amp; DEMO ACCESS</a:t>
            </a:r>
          </a:p>
          <a:p>
            <a:pPr>
              <a:spcBef>
                <a:spcPts val="800"/>
              </a:spcBef>
              <a:defRPr sz="3600" b="1">
                <a:solidFill>
                  <a:srgbClr val="FFFFFF"/>
                </a:solidFill>
              </a:defRPr>
            </a:pPr>
            <a:r>
              <a:t>BriefForge: Packaging Intelligence, Perfected.</a:t>
            </a:r>
          </a:p>
          <a:p>
            <a:pPr>
              <a:spcBef>
                <a:spcPts val="600"/>
              </a:spcBef>
              <a:defRPr sz="1600">
                <a:solidFill>
                  <a:srgbClr val="38BDF8"/>
                </a:solidFill>
              </a:defRPr>
            </a:pPr>
            <a:r>
              <a:t>From Product Idea to Design Brief — Fully Automated, Statutorily Compliant, and Visually Verified.</a:t>
            </a:r>
          </a:p>
          <a:p>
            <a:br/>
            <a:pPr>
              <a:spcBef>
                <a:spcPts val="1200"/>
              </a:spcBef>
              <a:defRPr sz="1400">
                <a:solidFill>
                  <a:srgbClr val="FFFFFF"/>
                </a:solidFill>
              </a:defRPr>
            </a:pPr>
            <a:r>
              <a:t>🌐 Live Interactive Web App: https://briefforge.streamlit.app/</a:t>
            </a:r>
            <a:br/>
            <a:r>
              <a:t>💻 Open-Source Code Repository: https://github.com/sblprateek/briefforge</a:t>
            </a:r>
            <a:br/>
            <a:r>
              <a:t>📦 Packaged Submission ZIP: BriefForge_Prototype_Submission.zip (&lt;50 MB)</a:t>
            </a:r>
            <a:br/>
            <a:r>
              <a:t>🎥 Video Demo: 3-to-5 minute walkthrough with sample files included.</a:t>
            </a:r>
          </a:p>
          <a:p>
            <a:pPr>
              <a:spcBef>
                <a:spcPts val="2400"/>
              </a:spcBef>
              <a:defRPr sz="1600" b="1">
                <a:solidFill>
                  <a:srgbClr val="38BDF8"/>
                </a:solidFill>
              </a:defRPr>
            </a:pPr>
            <a:r>
              <a:t>Thank you! We are excited to answer your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