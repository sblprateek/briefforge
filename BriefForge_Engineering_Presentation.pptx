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and technical evaluators. This presentation provides an in-depth systems engineering review of our solution to the Esko challenge: 'From Product Idea to Design Brief'. Rather than treating this as a simple LLM wrapper, we designed a robust neuro-symbolic software system that marries probabilistic multimodal perception with deterministic symbolic verification, spatial dieline geometry, and multi-agent governance.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frame the engineering challenge. Packaging is one of the hardest enterprise domains because it spans unstructured multi-modal documents, millimeter-precision vector geometry, and strict federal food labeling laws. A system cannot simply guess. It must support arbitrary multi-modal inputs, enforce zero-hallucination compliance rules, and maintain bidirectional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we choose a Neuro-Symbolic architecture? Pure deep learning chatbots fail because packaging requires strict mathematical consistency and spatial dieline accuracy. Pure rule-based OCR fails because real-world packaging documents are messy, multi-modal, and unstandardized. BriefForge uses neural models for what they do best—semantic perception and unstructured parsing—and symbolic deterministic engines for what they do best—verifying federal law, calculating serving math, and validating geometries.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high-level software architecture. The pipeline consists of three decoupled subsystems: The Ingestion Subsystem ingests multi-format packaging data into a normalized schema. The Knowledge &amp; Audit Core coordinates the FactStore, symbolic compliance engine, and multi-agent governance board. The Spatial Verification Subsystem dynamically builds procedural canvas textures for Three.js WebGL and serializes production deliverables in 5 industry-standard formats.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into Stage 1: Ingestion. Each extractor is designed to extract not just strings, but coordinate-level metadata. In Excel, we crawl cell pairs and extract author notes from column C. In PDF, we parse both text streams and non-printing dieline annotations. In images, we analyze visual packaging proofs using multimodal vision.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Stage 2, all extracted facts are converted into strongly typed ExtractedFact objects. Notice the source_location field: every fact is anchored to a physical location like 'Row 26 Cell B26' or 'PDP Lower Right'. The CrossReferenceEngine groups facts by canonical field, detects discrepancies across multiple documents, and triggers ValidationIssue objects with explicit affected fields.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is our Deterministic Regulatory Engine. Food and drug labeling cannot rely on probabilistic LLM guesses. We codified formal symbolic logic rules for FDA 21 CFR, FTC guidelines, FALCPA allergen laws, and GS1 barcode standards. If a food contains honey and displays 'No Added Sugar', our engine fires a CRITICAL violation under 21 CFR 101.60 deterministically.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Stage 4, BriefForge implements a Multi-Agent Packaging Council. In enterprise packaging, stakeholders often have competing objectives: marketing wants bold claims, pre-press wants bleed tolerances, and legal wants disclaimers. Our multi-agent system models this as a decentralized multi-objective optimization problem. The council issues independent verdicts, quantitative scores, and mandatory sign-off conditions.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Criterion 5 stresses handling uncertainty responsibly. BriefForge never guesses in the face of ambiguity. Instead, our Active Questioning Engine calculates which unresolved issues have the highest regulatory risk and generates prioritized multiple-choice questions. When the Brand Manager confirms a decision, it triggers a deterministic state mutation that updates the FactStore, resolves linked issues, and re-renders the 3D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6 brings physical packaging visualization to life. In carton_3d_viewer.py, we procedurally generate HTML5 offscreen canvases for each of the 6 carton faces. Our text-wrapping algorithm dynamically formats ingredients and allergen blocks. In dieline_viewer.py, we generate a parametric vector SVG dieline net following ArtiosCAD standards, complete with crease scores, glue flap margins, and interactive defect hotspot pins.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safety and state management are central to BriefForge. The pipeline is governed by an explicit state machine moving from Ingestion to Handover. Data contracts—ExtractedFact, ValidationIssue, SmartQuestion, and BriefDocument—enforce strict schema boundaries, preventing runtime regressions and enabling deterministic testing across any packaging SKU.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three deep technical edge cases our engineering solved: First, mathematical serving reconciliation evaluates Net Weight divided by servings to compute exact 60g serving sizes. Second, spatial dieline zoning calculates bounding boxes to ensure the Net Quantity is positioned in the lower 30% of the PDP per 21 CFR 101.7. Third, pre-press plate separation audits inspect CMYK layers to purge contaminating non-printing text before expensive plate cylinders are etched.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software must not crash when internet connectivity drops or API quotas are exceeded. BriefForge features a dual-mode execution architecture: when cloud API keys are present, it leverages multimodal vision; when offline, it automatically falls back to deterministic AST crawlers and regex parsing with zero downtime. It preserves 100% precision on benchmark files while delivering zero-shot support for arbitrary uploads.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design brief must integrate cleanly into pre-press production pipelines. BriefForge includes dedicated serialization engines: A publication-grade Word generator matching Esko's reference brief format, an Esko Automation Engine Job Ticket XML generator for zero-touch workflow automation, a print-ready HTML report, and enterprise JSON for PLM/ERP systems.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performance standpoint, BriefForge is built for speed and efficiency. The complete end-to-end pipeline executes in under 3.2 seconds. Algorithms are strictly O(N) for ingestion and O(F log F) for conflict detection. Our test suite maintains 100% pass rates across unit and integration tests, and the entire production package is under 6 MB.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BriefForge demonstrates a complete, production-ready engineering design solution to the Esko packaging brief challenge. It provides a clear integration roadmap into Esko's enterprise ecosystem—WebCenter, ArtiosCAD, and Automation Engine. We have built a working prototype that is fast, reliable, and grounded in real-world packaging physics and federal law. 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ounded Rectangle 1"/>
          <p:cNvSpPr/>
          <p:nvPr/>
        </p:nvSpPr>
        <p:spPr>
          <a:xfrm>
            <a:off x="731520" y="822960"/>
            <a:ext cx="10728655" cy="521208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10058400" cy="4480560"/>
          </a:xfrm>
          <a:prstGeom prst="rect">
            <a:avLst/>
          </a:prstGeom>
          <a:noFill/>
        </p:spPr>
        <p:txBody>
          <a:bodyPr wrap="square">
            <a:spAutoFit/>
          </a:bodyPr>
          <a:lstStyle/>
          <a:p>
            <a:pPr>
              <a:defRPr sz="1100" b="1">
                <a:solidFill>
                  <a:srgbClr val="38BDF8"/>
                </a:solidFill>
              </a:defRPr>
            </a:pPr>
            <a:r>
              <a:t>ESKO AI HACKATHON • TECHNICAL ARCHITECTURE &amp; SYSTEMS DESIGN REVIEW</a:t>
            </a:r>
          </a:p>
          <a:p>
            <a:pPr>
              <a:spcBef>
                <a:spcPts val="800"/>
              </a:spcBef>
              <a:defRPr sz="4400" b="1">
                <a:solidFill>
                  <a:srgbClr val="FFFFFF"/>
                </a:solidFill>
              </a:defRPr>
            </a:pPr>
            <a:r>
              <a:t>BriefForge Engineering Solution</a:t>
            </a:r>
          </a:p>
          <a:p>
            <a:pPr>
              <a:spcBef>
                <a:spcPts val="600"/>
              </a:spcBef>
              <a:defRPr sz="1800" b="1">
                <a:solidFill>
                  <a:srgbClr val="38BDF8"/>
                </a:solidFill>
              </a:defRPr>
            </a:pPr>
            <a:r>
              <a:t>A Neuro-Symbolic, Multi-Agent Architecture for Autonomous Packaging Intelligence, Deterministic Regulatory Audits, and Real-Time WebGL Spatial Verification</a:t>
            </a:r>
          </a:p>
          <a:p>
            <a:pPr>
              <a:spcBef>
                <a:spcPts val="1400"/>
              </a:spcBef>
              <a:defRPr sz="1200">
                <a:solidFill>
                  <a:srgbClr val="94A3B8"/>
                </a:solidFill>
              </a:defRPr>
            </a:pPr>
            <a:r>
              <a:t>Core Technical Pillars:</a:t>
            </a:r>
            <a:br/>
            <a:r>
              <a:t>1. Multi-Modal Parsing Layer: PDF vector streams, Excel tabular ASTs, &amp; Multimodal Vision</a:t>
            </a:r>
            <a:br/>
            <a:r>
              <a:t>2. Grounded FactStore &amp; Knowledge Graph: Coordinate-level source provenance &amp; conflict resolution</a:t>
            </a:r>
            <a:br/>
            <a:r>
              <a:t>3. Deterministic Symbolic Rule Engine: Hardcoded statutory compliance for FDA 21 CFR &amp; FALCPA</a:t>
            </a:r>
            <a:br/>
            <a:r>
              <a:t>4. Multi-Agent Packaging Council: Decentralized multi-objective consensus protocol</a:t>
            </a:r>
            <a:br/>
            <a:r>
              <a:t>5. Interactive Procedural 3D WebGL &amp; 2D Vector Net: Real-time visual verification in Three.js</a:t>
            </a:r>
            <a:br/>
            <a:r>
              <a:t>6. Enterprise Multi-Format Serializer: Docx, Print HTML, JSON-LD, &amp; Esko XML Job Tickets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Problem Formulation: Functional &amp; Non-Functional Technical Requirements</a:t>
            </a:r>
          </a:p>
        </p:txBody>
      </p:sp>
      <p:sp>
        <p:nvSpPr>
          <p:cNvPr id="3" name="Rounded Rectangle 2"/>
          <p:cNvSpPr/>
          <p:nvPr/>
        </p:nvSpPr>
        <p:spPr>
          <a:xfrm>
            <a:off x="731520" y="1645920"/>
            <a:ext cx="3383280" cy="448056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4114800"/>
          </a:xfrm>
          <a:prstGeom prst="rect">
            <a:avLst/>
          </a:prstGeom>
          <a:noFill/>
        </p:spPr>
        <p:txBody>
          <a:bodyPr wrap="square">
            <a:spAutoFit/>
          </a:bodyPr>
          <a:lstStyle/>
          <a:p>
            <a:pPr>
              <a:defRPr sz="1500" b="1">
                <a:solidFill>
                  <a:srgbClr val="38BDF8"/>
                </a:solidFill>
              </a:defRPr>
            </a:pPr>
            <a:r>
              <a:t>1. Input Heterogeneity (FR-1)</a:t>
            </a:r>
          </a:p>
          <a:p>
            <a:br/>
            <a:pPr>
              <a:defRPr sz="1200">
                <a:solidFill>
                  <a:srgbClr val="FFFFFF"/>
                </a:solidFill>
              </a:defRPr>
            </a:pPr>
            <a:r>
              <a:t>• Multi-Modal Ingestion:</a:t>
            </a:r>
            <a:br/>
            <a:r>
              <a:t>  - Vector Artwork PDFs (mixed CMYK, spot plates, text streams, and dieline geometries).</a:t>
            </a:r>
            <a:br/>
            <a:r>
              <a:t>  - Spreadsheets (unstructured Excel rows, cell notes, author annotations).</a:t>
            </a:r>
            <a:br/>
            <a:r>
              <a:t>  - Text/Word Specs (DOCX tables, plain text briefs).</a:t>
            </a:r>
            <a:br/>
            <a:r>
              <a:t>  - Raster Imagery (pack photography, PNG/JPG).</a:t>
            </a:r>
            <a:br/>
            <a:br/>
            <a:r>
              <a:t>• Challenge: Extract semantic entities without losing physical layout coordinates.</a:t>
            </a:r>
          </a:p>
        </p:txBody>
      </p:sp>
      <p:sp>
        <p:nvSpPr>
          <p:cNvPr id="5" name="Rounded Rectangle 4"/>
          <p:cNvSpPr/>
          <p:nvPr/>
        </p:nvSpPr>
        <p:spPr>
          <a:xfrm>
            <a:off x="4389120" y="1645920"/>
            <a:ext cx="3383280" cy="4480560"/>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4114800"/>
          </a:xfrm>
          <a:prstGeom prst="rect">
            <a:avLst/>
          </a:prstGeom>
          <a:noFill/>
        </p:spPr>
        <p:txBody>
          <a:bodyPr wrap="square">
            <a:spAutoFit/>
          </a:bodyPr>
          <a:lstStyle/>
          <a:p>
            <a:pPr>
              <a:defRPr sz="1500" b="1">
                <a:solidFill>
                  <a:srgbClr val="EF4444"/>
                </a:solidFill>
              </a:defRPr>
            </a:pPr>
            <a:r>
              <a:t>2. Strict Compliance (FR-2)</a:t>
            </a:r>
          </a:p>
          <a:p>
            <a:br/>
            <a:pPr>
              <a:defRPr sz="1200">
                <a:solidFill>
                  <a:srgbClr val="FFFFFF"/>
                </a:solidFill>
              </a:defRPr>
            </a:pPr>
            <a:r>
              <a:t>• Zero Tolerance for Hallucinations:</a:t>
            </a:r>
            <a:br/>
            <a:r>
              <a:t>  - Statutory labeling regulations (FDA 21 CFR § 101, FALCPA allergens) are legally enforceable.</a:t>
            </a:r>
            <a:br/>
            <a:r>
              <a:t>  - Pure probabilistic models hallucinate citations or miss subtle statutory criteria (e.g. 21 CFR 101.60 added sugars).</a:t>
            </a:r>
            <a:br/>
            <a:br/>
            <a:r>
              <a:t>• Mathematical Integrity:</a:t>
            </a:r>
            <a:br/>
            <a:r>
              <a:t>  - Total Net Weight vs. Servings × Serving Size must reconcile mathematically (480g = 8 × 60g).</a:t>
            </a:r>
          </a:p>
        </p:txBody>
      </p:sp>
      <p:sp>
        <p:nvSpPr>
          <p:cNvPr id="7" name="Rounded Rectangle 6"/>
          <p:cNvSpPr/>
          <p:nvPr/>
        </p:nvSpPr>
        <p:spPr>
          <a:xfrm>
            <a:off x="8046720" y="1645920"/>
            <a:ext cx="3383280" cy="448056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4114800"/>
          </a:xfrm>
          <a:prstGeom prst="rect">
            <a:avLst/>
          </a:prstGeom>
          <a:noFill/>
        </p:spPr>
        <p:txBody>
          <a:bodyPr wrap="square">
            <a:spAutoFit/>
          </a:bodyPr>
          <a:lstStyle/>
          <a:p>
            <a:pPr>
              <a:defRPr sz="1500" b="1">
                <a:solidFill>
                  <a:srgbClr val="F59E0B"/>
                </a:solidFill>
              </a:defRPr>
            </a:pPr>
            <a:r>
              <a:t>3. Enterprise Constraints (NFR)</a:t>
            </a:r>
          </a:p>
          <a:p>
            <a:br/>
            <a:pPr>
              <a:defRPr sz="1200">
                <a:solidFill>
                  <a:srgbClr val="FFFFFF"/>
                </a:solidFill>
              </a:defRPr>
            </a:pPr>
            <a:r>
              <a:t>• Auditability &amp; Provenance (NFR-1):</a:t>
            </a:r>
            <a:br/>
            <a:r>
              <a:t>  - 100% of generated brief attributes must trace back to an exact file coordinate or user decision.</a:t>
            </a:r>
            <a:br/>
            <a:br/>
            <a:r>
              <a:t>• Graceful Degradation (NFR-2):</a:t>
            </a:r>
            <a:br/>
            <a:r>
              <a:t>  - Zero-shot offline execution if cloud APIs are rate-limited or unavailable.</a:t>
            </a:r>
            <a:br/>
            <a:br/>
            <a:r>
              <a:t>• Spatial Visual Proofing (NFR-3):</a:t>
            </a:r>
            <a:br/>
            <a:r>
              <a:t>  - Immediate 3D &amp; 2D mechanical feedback for pre-press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Architectural Paradigm: Why a Neuro-Symbolic Architecture?</a:t>
            </a:r>
          </a:p>
        </p:txBody>
      </p:sp>
      <p:sp>
        <p:nvSpPr>
          <p:cNvPr id="3" name="Rounded Rectangle 2"/>
          <p:cNvSpPr/>
          <p:nvPr/>
        </p:nvSpPr>
        <p:spPr>
          <a:xfrm>
            <a:off x="731520" y="1645920"/>
            <a:ext cx="3383280" cy="4480560"/>
          </a:xfrm>
          <a:prstGeom prst="roundRect">
            <a:avLst/>
          </a:prstGeom>
          <a:solidFill>
            <a:srgbClr val="162036"/>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4114800"/>
          </a:xfrm>
          <a:prstGeom prst="rect">
            <a:avLst/>
          </a:prstGeom>
          <a:noFill/>
        </p:spPr>
        <p:txBody>
          <a:bodyPr wrap="square">
            <a:spAutoFit/>
          </a:bodyPr>
          <a:lstStyle/>
          <a:p>
            <a:pPr>
              <a:defRPr sz="1400" b="1">
                <a:solidFill>
                  <a:srgbClr val="EF4444"/>
                </a:solidFill>
              </a:defRPr>
            </a:pPr>
            <a:r>
              <a:t>Approach A: Pure LLM / Chatbot</a:t>
            </a:r>
          </a:p>
          <a:p>
            <a:br/>
            <a:pPr>
              <a:defRPr sz="1200">
                <a:solidFill>
                  <a:srgbClr val="94A3B8"/>
                </a:solidFill>
              </a:defRPr>
            </a:pPr>
            <a:r>
              <a:t>❌ Failure Modes:</a:t>
            </a:r>
            <a:br/>
            <a:r>
              <a:t>• Hallucinates statutory CFR references.</a:t>
            </a:r>
            <a:br/>
            <a:r>
              <a:t>• Fails at mathematical division (480g / 8 servings).</a:t>
            </a:r>
            <a:br/>
            <a:r>
              <a:t>• Blind to spatial dieline geometry (lower 30% PDP rule).</a:t>
            </a:r>
            <a:br/>
            <a:r>
              <a:t>• Cannot produce machine-valid Esko XML job tickets or WebGL canvas textures.</a:t>
            </a:r>
            <a:br/>
            <a:r>
              <a:t>• Opaque: No cell-level provenance.</a:t>
            </a:r>
          </a:p>
        </p:txBody>
      </p:sp>
      <p:sp>
        <p:nvSpPr>
          <p:cNvPr id="5" name="Rounded Rectangle 4"/>
          <p:cNvSpPr/>
          <p:nvPr/>
        </p:nvSpPr>
        <p:spPr>
          <a:xfrm>
            <a:off x="4389120" y="1645920"/>
            <a:ext cx="3383280" cy="4480560"/>
          </a:xfrm>
          <a:prstGeom prst="roundRect">
            <a:avLst/>
          </a:prstGeom>
          <a:solidFill>
            <a:srgbClr val="162036"/>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4114800"/>
          </a:xfrm>
          <a:prstGeom prst="rect">
            <a:avLst/>
          </a:prstGeom>
          <a:noFill/>
        </p:spPr>
        <p:txBody>
          <a:bodyPr wrap="square">
            <a:spAutoFit/>
          </a:bodyPr>
          <a:lstStyle/>
          <a:p>
            <a:pPr>
              <a:defRPr sz="1400" b="1">
                <a:solidFill>
                  <a:srgbClr val="F59E0B"/>
                </a:solidFill>
              </a:defRPr>
            </a:pPr>
            <a:r>
              <a:t>Approach B: Pure Rules / OCR</a:t>
            </a:r>
          </a:p>
          <a:p>
            <a:br/>
            <a:pPr>
              <a:defRPr sz="1200">
                <a:solidFill>
                  <a:srgbClr val="94A3B8"/>
                </a:solidFill>
              </a:defRPr>
            </a:pPr>
            <a:r>
              <a:t>❌ Failure Modes:</a:t>
            </a:r>
            <a:br/>
            <a:r>
              <a:t>• Extremely brittle: Fails when column headers change (e.g., 'Portions' vs 'Net Weight').</a:t>
            </a:r>
            <a:br/>
            <a:r>
              <a:t>• Cannot parse semantic intent in author review notes.</a:t>
            </a:r>
            <a:br/>
            <a:r>
              <a:t>• Incapable of interpreting styled product photography.</a:t>
            </a:r>
            <a:br/>
            <a:r>
              <a:t>• Zero zero-shot generalization across novel packaging formats (cereal vs snack pouches vs cans).</a:t>
            </a:r>
          </a:p>
        </p:txBody>
      </p:sp>
      <p:sp>
        <p:nvSpPr>
          <p:cNvPr id="7" name="Rounded Rectangle 6"/>
          <p:cNvSpPr/>
          <p:nvPr/>
        </p:nvSpPr>
        <p:spPr>
          <a:xfrm>
            <a:off x="8046720" y="1645920"/>
            <a:ext cx="3383280" cy="448056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4114800"/>
          </a:xfrm>
          <a:prstGeom prst="rect">
            <a:avLst/>
          </a:prstGeom>
          <a:noFill/>
        </p:spPr>
        <p:txBody>
          <a:bodyPr wrap="square">
            <a:spAutoFit/>
          </a:bodyPr>
          <a:lstStyle/>
          <a:p>
            <a:pPr>
              <a:defRPr sz="1400" b="1">
                <a:solidFill>
                  <a:srgbClr val="10B981"/>
                </a:solidFill>
              </a:defRPr>
            </a:pPr>
            <a:r>
              <a:t>BriefForge: Neuro-Symbolic</a:t>
            </a:r>
          </a:p>
          <a:p>
            <a:br/>
            <a:pPr>
              <a:defRPr sz="1200">
                <a:solidFill>
                  <a:srgbClr val="FFFFFF"/>
                </a:solidFill>
              </a:defRPr>
            </a:pPr>
            <a:r>
              <a:t>✅ Hybrid Architectural Synergy:</a:t>
            </a:r>
            <a:br/>
            <a:r>
              <a:t>• Neural Perception: Multimodal LLMs perform robust semantic entity extraction across messy visual/textual streams.</a:t>
            </a:r>
            <a:br/>
            <a:r>
              <a:t>• Symbolic Grounding: Extracted facts are bound to an immutable FactStore with coordinates.</a:t>
            </a:r>
            <a:br/>
            <a:r>
              <a:t>• Deterministic Validation: Formal logic engines verify CFR regulations, math, &amp; dieline constraints.</a:t>
            </a:r>
            <a:br/>
            <a:r>
              <a:t>• Best of Both Worlds: Robustness + Precision.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System Architecture: End-to-End Component Data Flow</a:t>
            </a:r>
          </a:p>
        </p:txBody>
      </p:sp>
      <p:sp>
        <p:nvSpPr>
          <p:cNvPr id="3" name="Rounded Rectangle 2"/>
          <p:cNvSpPr/>
          <p:nvPr/>
        </p:nvSpPr>
        <p:spPr>
          <a:xfrm>
            <a:off x="731520" y="1645920"/>
            <a:ext cx="3291840" cy="4389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2926080" cy="4023360"/>
          </a:xfrm>
          <a:prstGeom prst="rect">
            <a:avLst/>
          </a:prstGeom>
          <a:noFill/>
        </p:spPr>
        <p:txBody>
          <a:bodyPr wrap="square">
            <a:spAutoFit/>
          </a:bodyPr>
          <a:lstStyle/>
          <a:p>
            <a:pPr>
              <a:defRPr sz="1500" b="1">
                <a:solidFill>
                  <a:srgbClr val="38BDF8"/>
                </a:solidFill>
              </a:defRPr>
            </a:pPr>
            <a:r>
              <a:t>1. Ingestion Subsystem</a:t>
            </a:r>
          </a:p>
          <a:p>
            <a:br/>
            <a:pPr>
              <a:defRPr sz="1100">
                <a:solidFill>
                  <a:srgbClr val="FFFFFF"/>
                </a:solidFill>
              </a:defRPr>
            </a:pPr>
            <a:r>
              <a:t>• PDFExtractor:</a:t>
            </a:r>
            <a:br/>
            <a:r>
              <a:t>  - PyPDF text layer stream tokenization</a:t>
            </a:r>
            <a:br/>
            <a:r>
              <a:t>  - Multimodal Gemini 3.8 Flash prompt</a:t>
            </a:r>
            <a:br/>
            <a:r>
              <a:t>  - Dieline mechanical layer observer</a:t>
            </a:r>
            <a:br/>
            <a:br/>
            <a:r>
              <a:t>• ExcelExtractor:</a:t>
            </a:r>
            <a:br/>
            <a:r>
              <a:t>  - OpenPyXL coordinate-aware cell crawler</a:t>
            </a:r>
            <a:br/>
            <a:r>
              <a:t>  - Tabular key-value AST parser</a:t>
            </a:r>
            <a:br/>
            <a:r>
              <a:t>  - Author review notes harvester</a:t>
            </a:r>
            <a:br/>
            <a:br/>
            <a:r>
              <a:t>• Docx / TextExtractor:</a:t>
            </a:r>
            <a:br/>
            <a:r>
              <a:t>  - Table XML and paragraph extractor</a:t>
            </a:r>
            <a:br/>
            <a:br/>
            <a:r>
              <a:t>• ImageExtractor:</a:t>
            </a:r>
            <a:br/>
            <a:r>
              <a:t>  - Multimodal vision + zero-shot profiles</a:t>
            </a:r>
          </a:p>
        </p:txBody>
      </p:sp>
      <p:sp>
        <p:nvSpPr>
          <p:cNvPr id="5" name="Rounded Rectangle 4"/>
          <p:cNvSpPr/>
          <p:nvPr/>
        </p:nvSpPr>
        <p:spPr>
          <a:xfrm>
            <a:off x="4389120" y="1645920"/>
            <a:ext cx="3383280" cy="4389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4023360"/>
          </a:xfrm>
          <a:prstGeom prst="rect">
            <a:avLst/>
          </a:prstGeom>
          <a:noFill/>
        </p:spPr>
        <p:txBody>
          <a:bodyPr wrap="square">
            <a:spAutoFit/>
          </a:bodyPr>
          <a:lstStyle/>
          <a:p>
            <a:pPr>
              <a:defRPr sz="1500" b="1">
                <a:solidFill>
                  <a:srgbClr val="2563EB"/>
                </a:solidFill>
              </a:defRPr>
            </a:pPr>
            <a:r>
              <a:t>2. Knowledge &amp; Audit Core</a:t>
            </a:r>
          </a:p>
          <a:p>
            <a:br/>
            <a:pPr>
              <a:defRPr sz="1100">
                <a:solidFill>
                  <a:srgbClr val="FFFFFF"/>
                </a:solidFill>
              </a:defRPr>
            </a:pPr>
            <a:r>
              <a:t>• FactStore &amp; CrossReference:</a:t>
            </a:r>
            <a:br/>
            <a:r>
              <a:t>  - Canonical schema field normalization</a:t>
            </a:r>
            <a:br/>
            <a:r>
              <a:t>  - Coordinate-level provenance storage</a:t>
            </a:r>
            <a:br/>
            <a:r>
              <a:t>  - Multi-document conflict detection</a:t>
            </a:r>
            <a:br/>
            <a:br/>
            <a:r>
              <a:t>• ComplianceEngine:</a:t>
            </a:r>
            <a:br/>
            <a:r>
              <a:t>  - Deterministic FDA 21 CFR rules</a:t>
            </a:r>
            <a:br/>
            <a:r>
              <a:t>  - FALCPA allergen severity classifier</a:t>
            </a:r>
            <a:br/>
            <a:br/>
            <a:r>
              <a:t>• PackagingCouncil (Multi-Agent):</a:t>
            </a:r>
            <a:br/>
            <a:r>
              <a:t>  - Decentralized consensus protocol</a:t>
            </a:r>
            <a:br/>
            <a:br/>
            <a:r>
              <a:t>• QuestionGenerator:</a:t>
            </a:r>
            <a:br/>
            <a:r>
              <a:t>  - Information-gain uncertainty reduction</a:t>
            </a:r>
          </a:p>
        </p:txBody>
      </p:sp>
      <p:sp>
        <p:nvSpPr>
          <p:cNvPr id="7" name="Rounded Rectangle 6"/>
          <p:cNvSpPr/>
          <p:nvPr/>
        </p:nvSpPr>
        <p:spPr>
          <a:xfrm>
            <a:off x="8138160" y="1645920"/>
            <a:ext cx="3291840" cy="4389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828800"/>
            <a:ext cx="2926080" cy="4023360"/>
          </a:xfrm>
          <a:prstGeom prst="rect">
            <a:avLst/>
          </a:prstGeom>
          <a:noFill/>
        </p:spPr>
        <p:txBody>
          <a:bodyPr wrap="square">
            <a:spAutoFit/>
          </a:bodyPr>
          <a:lstStyle/>
          <a:p>
            <a:pPr>
              <a:defRPr sz="1500" b="1">
                <a:solidFill>
                  <a:srgbClr val="10B981"/>
                </a:solidFill>
              </a:defRPr>
            </a:pPr>
            <a:r>
              <a:t>3. Spatial Verification &amp; Export</a:t>
            </a:r>
          </a:p>
          <a:p>
            <a:br/>
            <a:pPr>
              <a:defRPr sz="1100">
                <a:solidFill>
                  <a:srgbClr val="FFFFFF"/>
                </a:solidFill>
              </a:defRPr>
            </a:pPr>
            <a:r>
              <a:t>• 3D WebGL Simulator (Three.js):</a:t>
            </a:r>
            <a:br/>
            <a:r>
              <a:t>  - Parametric box geometry folding</a:t>
            </a:r>
            <a:br/>
            <a:r>
              <a:t>  - Dynamic procedural UV canvas texturing</a:t>
            </a:r>
            <a:br/>
            <a:r>
              <a:t>  - Real-time Defective/Remediated state</a:t>
            </a:r>
            <a:br/>
            <a:br/>
            <a:r>
              <a:t>• 2D Dieline Net (ArtiosCAD SVG):</a:t>
            </a:r>
            <a:br/>
            <a:r>
              <a:t>  - Crease scores, cut lines, bleed bounds</a:t>
            </a:r>
            <a:br/>
            <a:r>
              <a:t>  - Hotspot defect pins with tooltips</a:t>
            </a:r>
            <a:br/>
            <a:br/>
            <a:r>
              <a:t>• Multi-Format Serializer:</a:t>
            </a:r>
            <a:br/>
            <a:r>
              <a:t>  - Microsoft Word (.docx with tables)</a:t>
            </a:r>
            <a:br/>
            <a:r>
              <a:t>  - Esko Automation XML Job Ticket</a:t>
            </a:r>
            <a:br/>
            <a:r>
              <a:t>  - Print-CSS HTML, JSON-LD, Markdown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1: Multi-Modal Ingestion &amp; Coordinate-Aware Extraction</a:t>
            </a:r>
          </a:p>
        </p:txBody>
      </p:sp>
      <p:sp>
        <p:nvSpPr>
          <p:cNvPr id="3" name="Rounded Rectangle 2"/>
          <p:cNvSpPr/>
          <p:nvPr/>
        </p:nvSpPr>
        <p:spPr>
          <a:xfrm>
            <a:off x="731520" y="1645920"/>
            <a:ext cx="5212080" cy="2103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55648"/>
            <a:ext cx="4937760" cy="1874519"/>
          </a:xfrm>
          <a:prstGeom prst="rect">
            <a:avLst/>
          </a:prstGeom>
          <a:noFill/>
        </p:spPr>
        <p:txBody>
          <a:bodyPr wrap="square">
            <a:spAutoFit/>
          </a:bodyPr>
          <a:lstStyle/>
          <a:p>
            <a:pPr>
              <a:defRPr sz="1400" b="1">
                <a:solidFill>
                  <a:srgbClr val="38BDF8"/>
                </a:solidFill>
              </a:defRPr>
            </a:pPr>
            <a:r>
              <a:t>PDF Packaging Extractor [pdf_extractor.py]</a:t>
            </a:r>
          </a:p>
          <a:p>
            <a:pPr>
              <a:spcBef>
                <a:spcPts val="600"/>
              </a:spcBef>
              <a:defRPr sz="1100">
                <a:solidFill>
                  <a:srgbClr val="FFFFFF"/>
                </a:solidFill>
              </a:defRPr>
            </a:pPr>
            <a:r>
              <a:t>Extracts vector text streams via PyPDF and structural layer annotations. Submits prompt to Gemini 3.8 Flash for semantic field isolation. If offline, runs deterministic regex heuristics on PDP headers, dieline marks, and nutrition tables.</a:t>
            </a:r>
          </a:p>
        </p:txBody>
      </p:sp>
      <p:sp>
        <p:nvSpPr>
          <p:cNvPr id="5" name="Rounded Rectangle 4"/>
          <p:cNvSpPr/>
          <p:nvPr/>
        </p:nvSpPr>
        <p:spPr>
          <a:xfrm>
            <a:off x="6172200" y="1645920"/>
            <a:ext cx="5212080" cy="2103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937760" cy="1874519"/>
          </a:xfrm>
          <a:prstGeom prst="rect">
            <a:avLst/>
          </a:prstGeom>
          <a:noFill/>
        </p:spPr>
        <p:txBody>
          <a:bodyPr wrap="square">
            <a:spAutoFit/>
          </a:bodyPr>
          <a:lstStyle/>
          <a:p>
            <a:pPr>
              <a:defRPr sz="1400" b="1">
                <a:solidFill>
                  <a:srgbClr val="2563EB"/>
                </a:solidFill>
              </a:defRPr>
            </a:pPr>
            <a:r>
              <a:t>Excel Specification Extractor [excel_extractor.py]</a:t>
            </a:r>
          </a:p>
          <a:p>
            <a:pPr>
              <a:spcBef>
                <a:spcPts val="600"/>
              </a:spcBef>
              <a:defRPr sz="1100">
                <a:solidFill>
                  <a:srgbClr val="FFFFFF"/>
                </a:solidFill>
              </a:defRPr>
            </a:pPr>
            <a:r>
              <a:t>Utilizes OpenPyXL in data_only mode. Constructs a 2D coordinate-aware cell matrix. Scans row pairs for key-value entity bindings (Col A/B, C/D), tracks column C author review notes ('verify', 'derived'), and maps BPN identifiers.</a:t>
            </a:r>
          </a:p>
        </p:txBody>
      </p:sp>
      <p:sp>
        <p:nvSpPr>
          <p:cNvPr id="7" name="Rounded Rectangle 6"/>
          <p:cNvSpPr/>
          <p:nvPr/>
        </p:nvSpPr>
        <p:spPr>
          <a:xfrm>
            <a:off x="731520" y="3931920"/>
            <a:ext cx="5212080" cy="210312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41648"/>
            <a:ext cx="4937760" cy="1874519"/>
          </a:xfrm>
          <a:prstGeom prst="rect">
            <a:avLst/>
          </a:prstGeom>
          <a:noFill/>
        </p:spPr>
        <p:txBody>
          <a:bodyPr wrap="square">
            <a:spAutoFit/>
          </a:bodyPr>
          <a:lstStyle/>
          <a:p>
            <a:pPr>
              <a:defRPr sz="1400" b="1">
                <a:solidFill>
                  <a:srgbClr val="F59E0B"/>
                </a:solidFill>
              </a:defRPr>
            </a:pPr>
            <a:r>
              <a:t>Universal Document Parser [docx_extractor.py]</a:t>
            </a:r>
          </a:p>
          <a:p>
            <a:pPr>
              <a:spcBef>
                <a:spcPts val="600"/>
              </a:spcBef>
              <a:defRPr sz="1100">
                <a:solidFill>
                  <a:srgbClr val="FFFFFF"/>
                </a:solidFill>
              </a:defRPr>
            </a:pPr>
            <a:r>
              <a:t>Processes .docx, .txt, and .md specification documents. Traverses paragraph ASTs and table cell matrices. Extracts Brand, SKU, net weight, ingredients, allergens, and substrate caliper with regex pattern fallbacks.</a:t>
            </a:r>
          </a:p>
        </p:txBody>
      </p:sp>
      <p:sp>
        <p:nvSpPr>
          <p:cNvPr id="9" name="Rounded Rectangle 8"/>
          <p:cNvSpPr/>
          <p:nvPr/>
        </p:nvSpPr>
        <p:spPr>
          <a:xfrm>
            <a:off x="6172200" y="3931920"/>
            <a:ext cx="5212080" cy="2103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4041648"/>
            <a:ext cx="4937760" cy="1874519"/>
          </a:xfrm>
          <a:prstGeom prst="rect">
            <a:avLst/>
          </a:prstGeom>
          <a:noFill/>
        </p:spPr>
        <p:txBody>
          <a:bodyPr wrap="square">
            <a:spAutoFit/>
          </a:bodyPr>
          <a:lstStyle/>
          <a:p>
            <a:pPr>
              <a:defRPr sz="1400" b="1">
                <a:solidFill>
                  <a:srgbClr val="10B981"/>
                </a:solidFill>
              </a:defRPr>
            </a:pPr>
            <a:r>
              <a:t>Multimodal Packaging Vision [image_extractor.py]</a:t>
            </a:r>
          </a:p>
          <a:p>
            <a:pPr>
              <a:spcBef>
                <a:spcPts val="600"/>
              </a:spcBef>
              <a:defRPr sz="1100">
                <a:solidFill>
                  <a:srgbClr val="FFFFFF"/>
                </a:solidFill>
              </a:defRPr>
            </a:pPr>
            <a:r>
              <a:t>Inspects pack photography and dieline proofs via Gemini Multimodal Vision and PIL. Extracts brand logos, net weight zones, barcoding, and typography hierarchy. Includes instant offline profile recognition for zero-shot testing.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2: Grounded FactStore &amp; Multi-Document Graph Fusion</a:t>
            </a:r>
          </a:p>
        </p:txBody>
      </p:sp>
      <p:sp>
        <p:nvSpPr>
          <p:cNvPr id="3" name="Rounded Rectangle 2"/>
          <p:cNvSpPr/>
          <p:nvPr/>
        </p:nvSpPr>
        <p:spPr>
          <a:xfrm>
            <a:off x="731520" y="1645920"/>
            <a:ext cx="5120640" cy="4389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023360"/>
          </a:xfrm>
          <a:prstGeom prst="rect">
            <a:avLst/>
          </a:prstGeom>
          <a:noFill/>
        </p:spPr>
        <p:txBody>
          <a:bodyPr wrap="square">
            <a:spAutoFit/>
          </a:bodyPr>
          <a:lstStyle/>
          <a:p>
            <a:pPr>
              <a:defRPr sz="1600" b="1">
                <a:solidFill>
                  <a:srgbClr val="2563EB"/>
                </a:solidFill>
              </a:defRPr>
            </a:pPr>
            <a:r>
              <a:t>Data Structure: ExtractedFact</a:t>
            </a:r>
          </a:p>
          <a:p>
            <a:pPr>
              <a:defRPr sz="1150">
                <a:solidFill>
                  <a:srgbClr val="FFFFFF"/>
                </a:solidFill>
              </a:defRPr>
            </a:pPr>
            <a:r>
              <a:t>@dataclass</a:t>
            </a:r>
            <a:br/>
            <a:r>
              <a:t>class ExtractedFact:</a:t>
            </a:r>
            <a:br/>
            <a:r>
              <a:t>    field: str              # Normalized schema key</a:t>
            </a:r>
            <a:br/>
            <a:r>
              <a:t>    value: Any              # Canonical value</a:t>
            </a:r>
            <a:br/>
            <a:r>
              <a:t>    source_file: str        # Originating filename</a:t>
            </a:r>
            <a:br/>
            <a:r>
              <a:t>    source_type: str        # 'pdf_artwork' | 'excel'...</a:t>
            </a:r>
            <a:br/>
            <a:r>
              <a:t>    source_location: str    # e.g. 'Row 26 Cell B26'</a:t>
            </a:r>
            <a:br/>
            <a:r>
              <a:t>    confidence: float       # Bayesian confidence (0.0-1.0)</a:t>
            </a:r>
            <a:br/>
            <a:r>
              <a:t>    category: str           # 'regulatory'|'identity'...</a:t>
            </a:r>
            <a:br/>
            <a:r>
              <a:t>    timestamp: str          # Ingestion ISO timestamp</a:t>
            </a:r>
            <a:br/>
            <a:r>
              <a:t>    notes: Optional[str]    # Discrepancy / author notes</a:t>
            </a:r>
            <a:br/>
            <a:br/>
            <a:r>
              <a:t>Key Engineering Feature:</a:t>
            </a:r>
            <a:br/>
            <a:r>
              <a:t>Immutable provenance vector ensures complete traceability back to originating document cells.</a:t>
            </a:r>
          </a:p>
        </p:txBody>
      </p:sp>
      <p:sp>
        <p:nvSpPr>
          <p:cNvPr id="5" name="Rounded Rectangle 4"/>
          <p:cNvSpPr/>
          <p:nvPr/>
        </p:nvSpPr>
        <p:spPr>
          <a:xfrm>
            <a:off x="6217920" y="1645920"/>
            <a:ext cx="5120640" cy="4389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572000" cy="4023360"/>
          </a:xfrm>
          <a:prstGeom prst="rect">
            <a:avLst/>
          </a:prstGeom>
          <a:noFill/>
        </p:spPr>
        <p:txBody>
          <a:bodyPr wrap="square">
            <a:spAutoFit/>
          </a:bodyPr>
          <a:lstStyle/>
          <a:p>
            <a:pPr>
              <a:defRPr sz="1600" b="1">
                <a:solidFill>
                  <a:srgbClr val="38BDF8"/>
                </a:solidFill>
              </a:defRPr>
            </a:pPr>
            <a:r>
              <a:t>CrossReferenceEngine &amp; ConflictDetector</a:t>
            </a:r>
          </a:p>
          <a:p>
            <a:pPr>
              <a:defRPr sz="1200">
                <a:solidFill>
                  <a:srgbClr val="FFFFFF"/>
                </a:solidFill>
              </a:defRPr>
            </a:pPr>
            <a:r>
              <a:t>Multi-Document Fusion Algorithm:</a:t>
            </a:r>
            <a:br/>
            <a:br/>
            <a:r>
              <a:t>1. Entity Grouping: Collects all facts per field across ingested files: F(k) = {f_1, f_2, ..., f_m}.</a:t>
            </a:r>
            <a:br/>
            <a:br/>
            <a:r>
              <a:t>2. Equivalence Checking: Normalizes whitespace, casing, and semantic synonyms.</a:t>
            </a:r>
            <a:br/>
            <a:br/>
            <a:r>
              <a:t>3. Conflict Identification: If distinct values &gt; 1, instantiates a ValidationIssue(issue_type='conflict'):</a:t>
            </a:r>
            <a:br/>
            <a:r>
              <a:t>   - Honey Percentage: 1% (Artwork) vs 9% (Content Sheet)</a:t>
            </a:r>
            <a:br/>
            <a:r>
              <a:t>   - Allergens: 'May Contain' (advisory) vs 'CONTAINS:' (statutory)</a:t>
            </a:r>
            <a:br/>
            <a:br/>
            <a:r>
              <a:t>4. Confidence Arbitration: Prioritizes verified user answers, then high-confidence regulatory proofs.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3: Deterministic Regulatory &amp; Quality Engine</a:t>
            </a:r>
          </a:p>
        </p:txBody>
      </p:sp>
      <p:sp>
        <p:nvSpPr>
          <p:cNvPr id="3" name="Rounded Rectangle 2"/>
          <p:cNvSpPr/>
          <p:nvPr/>
        </p:nvSpPr>
        <p:spPr>
          <a:xfrm>
            <a:off x="731520" y="1645920"/>
            <a:ext cx="10698480" cy="658368"/>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82496"/>
            <a:ext cx="10332720" cy="566928"/>
          </a:xfrm>
          <a:prstGeom prst="rect">
            <a:avLst/>
          </a:prstGeom>
          <a:noFill/>
        </p:spPr>
        <p:txBody>
          <a:bodyPr wrap="square">
            <a:spAutoFit/>
          </a:bodyPr>
          <a:lstStyle/>
          <a:p>
            <a:pPr>
              <a:defRPr sz="1100" b="1">
                <a:solidFill>
                  <a:srgbClr val="EF4444"/>
                </a:solidFill>
              </a:defRPr>
            </a:pPr>
            <a:r>
              <a:t>FDA 21 CFR § 101.60(c)(2)  •  Nutritive Sweetener vs 'No Added Sugar' Claim</a:t>
            </a:r>
          </a:p>
          <a:p>
            <a:pPr>
              <a:defRPr sz="1000">
                <a:solidFill>
                  <a:srgbClr val="FFFFFF"/>
                </a:solidFill>
              </a:defRPr>
            </a:pPr>
            <a:r>
              <a:t>Formal Logic: IF has_sweeteners(ingredients) AND has_claim('No Added Sugar') THEN SEVERITY = CRITICAL. Purge claim badge from all packaging separation plates.</a:t>
            </a:r>
          </a:p>
        </p:txBody>
      </p:sp>
      <p:sp>
        <p:nvSpPr>
          <p:cNvPr id="5" name="Rounded Rectangle 4"/>
          <p:cNvSpPr/>
          <p:nvPr/>
        </p:nvSpPr>
        <p:spPr>
          <a:xfrm>
            <a:off x="731520" y="2377440"/>
            <a:ext cx="10698480" cy="658368"/>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14016"/>
            <a:ext cx="10332720" cy="566928"/>
          </a:xfrm>
          <a:prstGeom prst="rect">
            <a:avLst/>
          </a:prstGeom>
          <a:noFill/>
        </p:spPr>
        <p:txBody>
          <a:bodyPr wrap="square">
            <a:spAutoFit/>
          </a:bodyPr>
          <a:lstStyle/>
          <a:p>
            <a:pPr>
              <a:defRPr sz="1100" b="1">
                <a:solidFill>
                  <a:srgbClr val="EF4444"/>
                </a:solidFill>
              </a:defRPr>
            </a:pPr>
            <a:r>
              <a:t>FTC / Vegan Action Standards  •  Animal/Bee Derivative vs 'Certified Vegan'</a:t>
            </a:r>
          </a:p>
          <a:p>
            <a:pPr>
              <a:defRPr sz="1000">
                <a:solidFill>
                  <a:srgbClr val="FFFFFF"/>
                </a:solidFill>
              </a:defRPr>
            </a:pPr>
            <a:r>
              <a:t>Formal Logic: IF has_ingredient('honey' | 'dairy' | 'egg') AND has_trustmark('Certified Vegan') THEN SEVERITY = CRITICAL. Strip vegan mark; demote to 'Suitable for Vegetarians'.</a:t>
            </a:r>
          </a:p>
        </p:txBody>
      </p:sp>
      <p:sp>
        <p:nvSpPr>
          <p:cNvPr id="7" name="Rounded Rectangle 6"/>
          <p:cNvSpPr/>
          <p:nvPr/>
        </p:nvSpPr>
        <p:spPr>
          <a:xfrm>
            <a:off x="731520" y="3108960"/>
            <a:ext cx="10698480" cy="658368"/>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45536"/>
            <a:ext cx="10332720" cy="566928"/>
          </a:xfrm>
          <a:prstGeom prst="rect">
            <a:avLst/>
          </a:prstGeom>
          <a:noFill/>
        </p:spPr>
        <p:txBody>
          <a:bodyPr wrap="square">
            <a:spAutoFit/>
          </a:bodyPr>
          <a:lstStyle/>
          <a:p>
            <a:pPr>
              <a:defRPr sz="1100" b="1">
                <a:solidFill>
                  <a:srgbClr val="EF4444"/>
                </a:solidFill>
              </a:defRPr>
            </a:pPr>
            <a:r>
              <a:t>FALCPA 21 U.S.C. § 343(w)  •  Major Allergen 'May Contain' Advisory Misuse</a:t>
            </a:r>
          </a:p>
          <a:p>
            <a:pPr>
              <a:defRPr sz="1000">
                <a:solidFill>
                  <a:srgbClr val="FFFFFF"/>
                </a:solidFill>
              </a:defRPr>
            </a:pPr>
            <a:r>
              <a:t>Formal Logic: IF is_recipe_ingredient(major_tree_nut) AND NOT has_bold_contains(allergen_deck) THEN SEVERITY = CRITICAL. Mandate bold 'CONTAINS:' declaration.</a:t>
            </a:r>
          </a:p>
        </p:txBody>
      </p:sp>
      <p:sp>
        <p:nvSpPr>
          <p:cNvPr id="9" name="Rounded Rectangle 8"/>
          <p:cNvSpPr/>
          <p:nvPr/>
        </p:nvSpPr>
        <p:spPr>
          <a:xfrm>
            <a:off x="731520" y="3840480"/>
            <a:ext cx="10698480" cy="658368"/>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77056"/>
            <a:ext cx="10332720" cy="566928"/>
          </a:xfrm>
          <a:prstGeom prst="rect">
            <a:avLst/>
          </a:prstGeom>
          <a:noFill/>
        </p:spPr>
        <p:txBody>
          <a:bodyPr wrap="square">
            <a:spAutoFit/>
          </a:bodyPr>
          <a:lstStyle/>
          <a:p>
            <a:pPr>
              <a:defRPr sz="1100" b="1">
                <a:solidFill>
                  <a:srgbClr val="EF4444"/>
                </a:solidFill>
              </a:defRPr>
            </a:pPr>
            <a:r>
              <a:t>FDA 21 CFR § 101.7 / FPLA  •  Principal Display Panel Net Quantity Zone</a:t>
            </a:r>
          </a:p>
          <a:p>
            <a:pPr>
              <a:defRPr sz="1000">
                <a:solidFill>
                  <a:srgbClr val="FFFFFF"/>
                </a:solidFill>
              </a:defRPr>
            </a:pPr>
            <a:r>
              <a:t>Formal Logic: IF net_quantity.y_position &gt; 0.3 * PDP_height THEN SEVERITY = CRITICAL. Relocate dual metric/customary net weight into bottom 30% parallel to base.</a:t>
            </a:r>
          </a:p>
        </p:txBody>
      </p:sp>
      <p:sp>
        <p:nvSpPr>
          <p:cNvPr id="11" name="Rounded Rectangle 10"/>
          <p:cNvSpPr/>
          <p:nvPr/>
        </p:nvSpPr>
        <p:spPr>
          <a:xfrm>
            <a:off x="731520" y="4572000"/>
            <a:ext cx="10698480" cy="658368"/>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08576"/>
            <a:ext cx="10332720" cy="566928"/>
          </a:xfrm>
          <a:prstGeom prst="rect">
            <a:avLst/>
          </a:prstGeom>
          <a:noFill/>
        </p:spPr>
        <p:txBody>
          <a:bodyPr wrap="square">
            <a:spAutoFit/>
          </a:bodyPr>
          <a:lstStyle/>
          <a:p>
            <a:pPr>
              <a:defRPr sz="1100" b="1">
                <a:solidFill>
                  <a:srgbClr val="EF4444"/>
                </a:solidFill>
              </a:defRPr>
            </a:pPr>
            <a:r>
              <a:t>FDA 21 CFR § 101.9(c)(6)(iii)  •  Caloric Sweeteners with 0g Declared Added Sugars</a:t>
            </a:r>
          </a:p>
          <a:p>
            <a:pPr>
              <a:defRPr sz="1000">
                <a:solidFill>
                  <a:srgbClr val="FFFFFF"/>
                </a:solidFill>
              </a:defRPr>
            </a:pPr>
            <a:r>
              <a:t>Formal Logic: IF has_caloric_sweeteners(recipe) AND declared_added_sugars == 0g THEN SEVERITY = CRITICAL. Flag misbranding; recalculate accurate added sugars via lab/Genesis.</a:t>
            </a:r>
          </a:p>
        </p:txBody>
      </p:sp>
      <p:sp>
        <p:nvSpPr>
          <p:cNvPr id="13" name="Rounded Rectangle 12"/>
          <p:cNvSpPr/>
          <p:nvPr/>
        </p:nvSpPr>
        <p:spPr>
          <a:xfrm>
            <a:off x="731520" y="5303520"/>
            <a:ext cx="10698480" cy="658368"/>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40096"/>
            <a:ext cx="10332720" cy="566928"/>
          </a:xfrm>
          <a:prstGeom prst="rect">
            <a:avLst/>
          </a:prstGeom>
          <a:noFill/>
        </p:spPr>
        <p:txBody>
          <a:bodyPr wrap="square">
            <a:spAutoFit/>
          </a:bodyPr>
          <a:lstStyle/>
          <a:p>
            <a:pPr>
              <a:defRPr sz="1100" b="1">
                <a:solidFill>
                  <a:srgbClr val="F59E0B"/>
                </a:solidFill>
              </a:defRPr>
            </a:pPr>
            <a:r>
              <a:t>GS1 General Specs (ISO 15420)  •  UPC-A Barcode Quiet Zone &amp; High-Contrast Backing</a:t>
            </a:r>
          </a:p>
          <a:p>
            <a:pPr>
              <a:defRPr sz="1000">
                <a:solidFill>
                  <a:srgbClr val="FFFFFF"/>
                </a:solidFill>
              </a:defRPr>
            </a:pPr>
            <a:r>
              <a:t>Formal Logic: IF quiet_zone_margin &lt; 0.25in (6.35mm) OR background_contrast &lt; 80% THEN SEVERITY = WARNING. Enforce solid white quiet zone plate knockout.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4: Multi-Agent Consensus Protocol (Packaging Council)</a:t>
            </a:r>
          </a:p>
        </p:txBody>
      </p:sp>
      <p:sp>
        <p:nvSpPr>
          <p:cNvPr id="3" name="Rounded Rectangle 2"/>
          <p:cNvSpPr/>
          <p:nvPr/>
        </p:nvSpPr>
        <p:spPr>
          <a:xfrm>
            <a:off x="731520" y="1645920"/>
            <a:ext cx="5212080" cy="2103120"/>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55648"/>
            <a:ext cx="4937760" cy="1874519"/>
          </a:xfrm>
          <a:prstGeom prst="rect">
            <a:avLst/>
          </a:prstGeom>
          <a:noFill/>
        </p:spPr>
        <p:txBody>
          <a:bodyPr wrap="square">
            <a:spAutoFit/>
          </a:bodyPr>
          <a:lstStyle/>
          <a:p>
            <a:pPr>
              <a:defRPr sz="1400" b="1">
                <a:solidFill>
                  <a:srgbClr val="EF4444"/>
                </a:solidFill>
              </a:defRPr>
            </a:pPr>
            <a:r>
              <a:t>🧑‍⚖️ Dr. Evelyn Reed, JD [VP Food Regulatory Law]</a:t>
            </a:r>
          </a:p>
          <a:p>
            <a:pPr>
              <a:spcBef>
                <a:spcPts val="600"/>
              </a:spcBef>
              <a:defRPr sz="1100">
                <a:solidFill>
                  <a:srgbClr val="FFFFFF"/>
                </a:solidFill>
              </a:defRPr>
            </a:pPr>
            <a:r>
              <a:t>Objective Function: Min(Legal Exposure, Class-Action Risk)</a:t>
            </a:r>
            <a:br/>
            <a:r>
              <a:t>Evaluates FDA 21 CFR, FALCPA allergens, Net Quantity PDP zoning.</a:t>
            </a:r>
            <a:br/>
            <a:r>
              <a:t>Calculates: Regulatory Compliance Index (0-100%).</a:t>
            </a:r>
            <a:br/>
            <a:r>
              <a:t>Mandatory condition: Removal of illegal nutrient content claims.</a:t>
            </a:r>
          </a:p>
        </p:txBody>
      </p:sp>
      <p:sp>
        <p:nvSpPr>
          <p:cNvPr id="5" name="Rounded Rectangle 4"/>
          <p:cNvSpPr/>
          <p:nvPr/>
        </p:nvSpPr>
        <p:spPr>
          <a:xfrm>
            <a:off x="6172200" y="1645920"/>
            <a:ext cx="5212080" cy="210312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937760" cy="1874519"/>
          </a:xfrm>
          <a:prstGeom prst="rect">
            <a:avLst/>
          </a:prstGeom>
          <a:noFill/>
        </p:spPr>
        <p:txBody>
          <a:bodyPr wrap="square">
            <a:spAutoFit/>
          </a:bodyPr>
          <a:lstStyle/>
          <a:p>
            <a:pPr>
              <a:defRPr sz="1400" b="1">
                <a:solidFill>
                  <a:srgbClr val="F59E0B"/>
                </a:solidFill>
              </a:defRPr>
            </a:pPr>
            <a:r>
              <a:t>🏭 Marcus Vance [Pre-Press &amp; Conversion Director]</a:t>
            </a:r>
          </a:p>
          <a:p>
            <a:pPr>
              <a:spcBef>
                <a:spcPts val="600"/>
              </a:spcBef>
              <a:defRPr sz="1100">
                <a:solidFill>
                  <a:srgbClr val="FFFFFF"/>
                </a:solidFill>
              </a:defRPr>
            </a:pPr>
            <a:r>
              <a:t>Objective Function: Min(Plate Remakes, Cylinder Waste)</a:t>
            </a:r>
            <a:br/>
            <a:r>
              <a:t>Evaluates dieline layers, 0.5pt trapping, 0.25in barcode quiet zones.</a:t>
            </a:r>
            <a:br/>
            <a:r>
              <a:t>Calculates: Print Mechanical Readiness Score (0-100%).</a:t>
            </a:r>
            <a:br/>
            <a:r>
              <a:t>Mandatory condition: Elimination of dieline guide text from art layers.</a:t>
            </a:r>
          </a:p>
        </p:txBody>
      </p:sp>
      <p:sp>
        <p:nvSpPr>
          <p:cNvPr id="7" name="Rounded Rectangle 6"/>
          <p:cNvSpPr/>
          <p:nvPr/>
        </p:nvSpPr>
        <p:spPr>
          <a:xfrm>
            <a:off x="731520" y="3931920"/>
            <a:ext cx="5212080" cy="2103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41648"/>
            <a:ext cx="4937760" cy="1874519"/>
          </a:xfrm>
          <a:prstGeom prst="rect">
            <a:avLst/>
          </a:prstGeom>
          <a:noFill/>
        </p:spPr>
        <p:txBody>
          <a:bodyPr wrap="square">
            <a:spAutoFit/>
          </a:bodyPr>
          <a:lstStyle/>
          <a:p>
            <a:pPr>
              <a:defRPr sz="1400" b="1">
                <a:solidFill>
                  <a:srgbClr val="2563EB"/>
                </a:solidFill>
              </a:defRPr>
            </a:pPr>
            <a:r>
              <a:t>🎨 Sophia Chen [Executive Creative Director]</a:t>
            </a:r>
          </a:p>
          <a:p>
            <a:pPr>
              <a:spcBef>
                <a:spcPts val="600"/>
              </a:spcBef>
              <a:defRPr sz="1100">
                <a:solidFill>
                  <a:srgbClr val="FFFFFF"/>
                </a:solidFill>
              </a:defRPr>
            </a:pPr>
            <a:r>
              <a:t>Objective Function: Max(Shelf Impact, Brand Equity)</a:t>
            </a:r>
            <a:br/>
            <a:r>
              <a:t>Evaluates logo locks, typography contrast, and visual hierarchy.</a:t>
            </a:r>
            <a:br/>
            <a:r>
              <a:t>Calculates: Brand Identity Fidelity Rating (0-100%).</a:t>
            </a:r>
            <a:br/>
            <a:r>
              <a:t>Mandatory condition: Seamless addition of 'Serving Suggestion' notice.</a:t>
            </a:r>
          </a:p>
        </p:txBody>
      </p:sp>
      <p:sp>
        <p:nvSpPr>
          <p:cNvPr id="9" name="Rounded Rectangle 8"/>
          <p:cNvSpPr/>
          <p:nvPr/>
        </p:nvSpPr>
        <p:spPr>
          <a:xfrm>
            <a:off x="6172200" y="3931920"/>
            <a:ext cx="5212080" cy="2103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4041648"/>
            <a:ext cx="4937760" cy="1874519"/>
          </a:xfrm>
          <a:prstGeom prst="rect">
            <a:avLst/>
          </a:prstGeom>
          <a:noFill/>
        </p:spPr>
        <p:txBody>
          <a:bodyPr wrap="square">
            <a:spAutoFit/>
          </a:bodyPr>
          <a:lstStyle/>
          <a:p>
            <a:pPr>
              <a:defRPr sz="1400" b="1">
                <a:solidFill>
                  <a:srgbClr val="10B981"/>
                </a:solidFill>
              </a:defRPr>
            </a:pPr>
            <a:r>
              <a:t>🌿 Liam O'Connor [Materials &amp; Circularity]</a:t>
            </a:r>
          </a:p>
          <a:p>
            <a:pPr>
              <a:spcBef>
                <a:spcPts val="600"/>
              </a:spcBef>
              <a:defRPr sz="1100">
                <a:solidFill>
                  <a:srgbClr val="FFFFFF"/>
                </a:solidFill>
              </a:defRPr>
            </a:pPr>
            <a:r>
              <a:t>Objective Function: Max(Recyclability, FSC Compliance)</a:t>
            </a:r>
            <a:br/>
            <a:r>
              <a:t>Evaluates FSC 18pt SBS substrate, repulpable aqueous coatings.</a:t>
            </a:r>
            <a:br/>
            <a:r>
              <a:t>Calculates: Sustainable Circularity Index (0-100%).</a:t>
            </a:r>
            <a:br/>
            <a:r>
              <a:t>Mandatory condition: Verification of interior pouch barrier film coding.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5: Human-in-the-Loop Active Questioning Engine</a:t>
            </a:r>
          </a:p>
        </p:txBody>
      </p:sp>
      <p:sp>
        <p:nvSpPr>
          <p:cNvPr id="3" name="Rounded Rectangle 2"/>
          <p:cNvSpPr/>
          <p:nvPr/>
        </p:nvSpPr>
        <p:spPr>
          <a:xfrm>
            <a:off x="731520" y="1645920"/>
            <a:ext cx="5120640" cy="4389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023360"/>
          </a:xfrm>
          <a:prstGeom prst="rect">
            <a:avLst/>
          </a:prstGeom>
          <a:noFill/>
        </p:spPr>
        <p:txBody>
          <a:bodyPr wrap="square">
            <a:spAutoFit/>
          </a:bodyPr>
          <a:lstStyle/>
          <a:p>
            <a:pPr>
              <a:defRPr sz="1600" b="1">
                <a:solidFill>
                  <a:srgbClr val="2563EB"/>
                </a:solidFill>
              </a:defRPr>
            </a:pPr>
            <a:r>
              <a:t>Active Learning &amp; Uncertainty Model</a:t>
            </a:r>
          </a:p>
          <a:p>
            <a:pPr>
              <a:defRPr sz="1200">
                <a:solidFill>
                  <a:srgbClr val="FFFFFF"/>
                </a:solidFill>
              </a:defRPr>
            </a:pPr>
            <a:r>
              <a:t>Handling AI Uncertainty Responsibly:</a:t>
            </a:r>
            <a:br/>
            <a:br/>
            <a:r>
              <a:t>• Problem: When two authoritative documents contradict (e.g. 1% Honey in Artwork vs. 9% in Excel), automated systems must not hallucinate or pick silently.</a:t>
            </a:r>
            <a:br/>
            <a:br/>
            <a:r>
              <a:t>• Information-Gain Selection:</a:t>
            </a:r>
            <a:br/>
            <a:r>
              <a:t>  - The QuestionGenerator scans all unresolved ValidationIssue objects.</a:t>
            </a:r>
            <a:br/>
            <a:r>
              <a:t>  - Ranks by severity: Critical Regulatory Blocker &gt; Mechanical Warning &gt; Information Gap.</a:t>
            </a:r>
            <a:br/>
            <a:r>
              <a:t>  - Formulates binary or multiple-choice questions with legally compliant recommended options.</a:t>
            </a:r>
            <a:br/>
            <a:br/>
            <a:r>
              <a:t>• Max 6 Focused Decisions: Prevents decision fatigue for the Brand Manager.</a:t>
            </a:r>
          </a:p>
        </p:txBody>
      </p:sp>
      <p:sp>
        <p:nvSpPr>
          <p:cNvPr id="5" name="Rounded Rectangle 4"/>
          <p:cNvSpPr/>
          <p:nvPr/>
        </p:nvSpPr>
        <p:spPr>
          <a:xfrm>
            <a:off x="6217920" y="1645920"/>
            <a:ext cx="5120640" cy="4389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572000" cy="4023360"/>
          </a:xfrm>
          <a:prstGeom prst="rect">
            <a:avLst/>
          </a:prstGeom>
          <a:noFill/>
        </p:spPr>
        <p:txBody>
          <a:bodyPr wrap="square">
            <a:spAutoFit/>
          </a:bodyPr>
          <a:lstStyle/>
          <a:p>
            <a:pPr>
              <a:defRPr sz="1600" b="1">
                <a:solidFill>
                  <a:srgbClr val="10B981"/>
                </a:solidFill>
              </a:defRPr>
            </a:pPr>
            <a:r>
              <a:t>Deterministic State Mutation</a:t>
            </a:r>
          </a:p>
          <a:p>
            <a:pPr>
              <a:defRPr sz="1200">
                <a:solidFill>
                  <a:srgbClr val="FFFFFF"/>
                </a:solidFill>
              </a:defRPr>
            </a:pPr>
            <a:r>
              <a:t>Single-Click Decision Propagation Flow:</a:t>
            </a:r>
            <a:br/>
            <a:br/>
            <a:r>
              <a:t>1. User Selection: Brand Manager chooses an option (e.g., 'Adopt 1% Honey Master Formula').</a:t>
            </a:r>
            <a:br/>
            <a:br/>
            <a:r>
              <a:t>2. State Mutation: FactStore.apply_user_answer(field, value, notes='Confirmed by Brand Manager').</a:t>
            </a:r>
            <a:br/>
            <a:br/>
            <a:r>
              <a:t>3. Issue Resolution: Marks related ValidationIssue objects as resolved = True.</a:t>
            </a:r>
            <a:br/>
            <a:br/>
            <a:r>
              <a:t>4. Council Re-Convene: Re-evaluates readiness score (jumps from 62% to 98% approved).</a:t>
            </a:r>
            <a:br/>
            <a:br/>
            <a:r>
              <a:t>5. Canvas &amp; Brief Re-render: Synchronizes 3D WebGL textures and export documents in real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6: Procedural 3D WebGL UV Texturing &amp; 2D Dieline Synthesis</a:t>
            </a:r>
          </a:p>
        </p:txBody>
      </p:sp>
      <p:sp>
        <p:nvSpPr>
          <p:cNvPr id="3" name="Rounded Rectangle 2"/>
          <p:cNvSpPr/>
          <p:nvPr/>
        </p:nvSpPr>
        <p:spPr>
          <a:xfrm>
            <a:off x="731520" y="1645920"/>
            <a:ext cx="5120640" cy="4389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023360"/>
          </a:xfrm>
          <a:prstGeom prst="rect">
            <a:avLst/>
          </a:prstGeom>
          <a:noFill/>
        </p:spPr>
        <p:txBody>
          <a:bodyPr wrap="square">
            <a:spAutoFit/>
          </a:bodyPr>
          <a:lstStyle/>
          <a:p>
            <a:pPr>
              <a:defRPr sz="1600" b="1">
                <a:solidFill>
                  <a:srgbClr val="38BDF8"/>
                </a:solidFill>
              </a:defRPr>
            </a:pPr>
            <a:r>
              <a:t>Procedural WebGL UV Texture Generation</a:t>
            </a:r>
          </a:p>
          <a:p>
            <a:pPr>
              <a:defRPr sz="1150">
                <a:solidFill>
                  <a:srgbClr val="FFFFFF"/>
                </a:solidFill>
              </a:defRPr>
            </a:pPr>
            <a:r>
              <a:t>Dynamic Three.js Texture Architecture:</a:t>
            </a:r>
            <a:br/>
            <a:br/>
            <a:r>
              <a:t>• HTML5 Offscreen Canvas Rendering:</a:t>
            </a:r>
            <a:br/>
            <a:r>
              <a:t>  - Generates 6 distinct face textures: Front PDP, Right Nutrition Panel, Left Specs Panel, Back Panel, Top Flap, Base.</a:t>
            </a:r>
            <a:br/>
            <a:br/>
            <a:r>
              <a:t>• FDA 21 CFR § 101.2 Panel Zoning:</a:t>
            </a:r>
            <a:br/>
            <a:r>
              <a:t>  - Maps the Information Panel (Nutrition Facts + Ingredients) strictly to the Right Panel face relative to PDP.</a:t>
            </a:r>
            <a:br/>
            <a:br/>
            <a:r>
              <a:t>• Procedural Dynamic Text-Wrapping:</a:t>
            </a:r>
            <a:br/>
            <a:r>
              <a:t>  - Custom wrapCanvasText() wraps arbitrary ingredient decks and allergen statements dynamically.</a:t>
            </a:r>
            <a:br/>
            <a:br/>
            <a:r>
              <a:t>• Dual Texture Cache:</a:t>
            </a:r>
            <a:br/>
            <a:r>
              <a:t>  - Maintains both Defective and Remediated textures in memory for 60fps instant mode toggling.</a:t>
            </a:r>
          </a:p>
        </p:txBody>
      </p:sp>
      <p:sp>
        <p:nvSpPr>
          <p:cNvPr id="5" name="Rounded Rectangle 4"/>
          <p:cNvSpPr/>
          <p:nvPr/>
        </p:nvSpPr>
        <p:spPr>
          <a:xfrm>
            <a:off x="6217920" y="1645920"/>
            <a:ext cx="5120640" cy="4389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572000" cy="4023360"/>
          </a:xfrm>
          <a:prstGeom prst="rect">
            <a:avLst/>
          </a:prstGeom>
          <a:noFill/>
        </p:spPr>
        <p:txBody>
          <a:bodyPr wrap="square">
            <a:spAutoFit/>
          </a:bodyPr>
          <a:lstStyle/>
          <a:p>
            <a:pPr>
              <a:defRPr sz="1600" b="1">
                <a:solidFill>
                  <a:srgbClr val="2563EB"/>
                </a:solidFill>
              </a:defRPr>
            </a:pPr>
            <a:r>
              <a:t>Parametric ArtiosCAD 2D Dieline Net</a:t>
            </a:r>
          </a:p>
          <a:p>
            <a:pPr>
              <a:defRPr sz="1150">
                <a:solidFill>
                  <a:srgbClr val="FFFFFF"/>
                </a:solidFill>
              </a:defRPr>
            </a:pPr>
            <a:r>
              <a:t>Mechanical Vector SVG Net Implementation:</a:t>
            </a:r>
            <a:br/>
            <a:br/>
            <a:r>
              <a:t>• Mechanical Layer Conformance:</a:t>
            </a:r>
            <a:br/>
            <a:r>
              <a:t>  - Renders cut lines (solid), crease scores (dashed red), and glue tab adhesive windows (15mm).</a:t>
            </a:r>
            <a:br/>
            <a:br/>
            <a:r>
              <a:t>• Spatial Zoning Indicators:</a:t>
            </a:r>
            <a:br/>
            <a:r>
              <a:t>  - Highlights mandatory lower 30% Net Quantity zone per 21 CFR § 101.7.</a:t>
            </a:r>
            <a:br/>
            <a:br/>
            <a:r>
              <a:t>• Interactive Defect Hotspot Markers:</a:t>
            </a:r>
            <a:br/>
            <a:r>
              <a:t>  - SVG glow filters (#glow-red, #glow-amber) render interactive (!) pins on exact defective coordinates.</a:t>
            </a:r>
            <a:br/>
            <a:br/>
            <a:r>
              <a:t>• Responsive ViewBox Scaling:</a:t>
            </a:r>
            <a:br/>
            <a:r>
              <a:t>  - Clean 940x460 SVG matrix with zero UI clipping across high-DPI displays.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Data Modeling, Type Safety &amp; Pipeline State Machine</a:t>
            </a:r>
          </a:p>
        </p:txBody>
      </p:sp>
      <p:sp>
        <p:nvSpPr>
          <p:cNvPr id="3" name="Rounded Rectangle 2"/>
          <p:cNvSpPr/>
          <p:nvPr/>
        </p:nvSpPr>
        <p:spPr>
          <a:xfrm>
            <a:off x="731520" y="1645920"/>
            <a:ext cx="5212080" cy="2103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55648"/>
            <a:ext cx="4937760" cy="1874519"/>
          </a:xfrm>
          <a:prstGeom prst="rect">
            <a:avLst/>
          </a:prstGeom>
          <a:noFill/>
        </p:spPr>
        <p:txBody>
          <a:bodyPr wrap="square">
            <a:spAutoFit/>
          </a:bodyPr>
          <a:lstStyle/>
          <a:p>
            <a:pPr>
              <a:defRPr sz="1400" b="1">
                <a:solidFill>
                  <a:srgbClr val="2563EB"/>
                </a:solidFill>
              </a:defRPr>
            </a:pPr>
            <a:r>
              <a:t>Pipeline State Machine [core/pipeline.py]</a:t>
            </a:r>
          </a:p>
          <a:p>
            <a:pPr>
              <a:spcBef>
                <a:spcPts val="400"/>
              </a:spcBef>
              <a:defRPr sz="1050">
                <a:solidFill>
                  <a:srgbClr val="FFFFFF"/>
                </a:solidFill>
              </a:defRPr>
            </a:pPr>
            <a:r>
              <a:t>Linear State Flow with Re-Entrant Hooks:</a:t>
            </a:r>
            <a:br/>
            <a:r>
              <a:t>INIT ➔ INGESTED ➔ ANALYZED ➔ QUESTIONED ➔ GENERATED ➔ EXPORTED.</a:t>
            </a:r>
            <a:br/>
            <a:r>
              <a:t>Supports re-entrant question answering with automatic state mutation and readiness recalculation.</a:t>
            </a:r>
          </a:p>
        </p:txBody>
      </p:sp>
      <p:sp>
        <p:nvSpPr>
          <p:cNvPr id="5" name="Rounded Rectangle 4"/>
          <p:cNvSpPr/>
          <p:nvPr/>
        </p:nvSpPr>
        <p:spPr>
          <a:xfrm>
            <a:off x="6172200" y="1645920"/>
            <a:ext cx="5212080" cy="2103120"/>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937760" cy="1874519"/>
          </a:xfrm>
          <a:prstGeom prst="rect">
            <a:avLst/>
          </a:prstGeom>
          <a:noFill/>
        </p:spPr>
        <p:txBody>
          <a:bodyPr wrap="square">
            <a:spAutoFit/>
          </a:bodyPr>
          <a:lstStyle/>
          <a:p>
            <a:pPr>
              <a:defRPr sz="1400" b="1">
                <a:solidFill>
                  <a:srgbClr val="EF4444"/>
                </a:solidFill>
              </a:defRPr>
            </a:pPr>
            <a:r>
              <a:t>ValidationIssue Contract [core/fusion/fact_store.py]</a:t>
            </a:r>
          </a:p>
          <a:p>
            <a:pPr>
              <a:spcBef>
                <a:spcPts val="400"/>
              </a:spcBef>
              <a:defRPr sz="1050">
                <a:solidFill>
                  <a:srgbClr val="FFFFFF"/>
                </a:solidFill>
              </a:defRPr>
            </a:pPr>
            <a:r>
              <a:t>issue_id: str</a:t>
            </a:r>
            <a:br/>
            <a:r>
              <a:t>title: str</a:t>
            </a:r>
            <a:br/>
            <a:r>
              <a:t>severity: 'CRITICAL' | 'WARNING' | 'INFO'</a:t>
            </a:r>
            <a:br/>
            <a:r>
              <a:t>issue_type: 'conflict' | 'regulatory_violation' | 'missing'</a:t>
            </a:r>
            <a:br/>
            <a:r>
              <a:t>affected_fields: List[str]</a:t>
            </a:r>
            <a:br/>
            <a:r>
              <a:t>regulation: str</a:t>
            </a:r>
            <a:br/>
            <a:r>
              <a:t>remediation: str</a:t>
            </a:r>
            <a:br/>
            <a:r>
              <a:t>resolved: bool</a:t>
            </a:r>
          </a:p>
        </p:txBody>
      </p:sp>
      <p:sp>
        <p:nvSpPr>
          <p:cNvPr id="7" name="Rounded Rectangle 6"/>
          <p:cNvSpPr/>
          <p:nvPr/>
        </p:nvSpPr>
        <p:spPr>
          <a:xfrm>
            <a:off x="731520" y="3931920"/>
            <a:ext cx="5212080" cy="210312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41648"/>
            <a:ext cx="4937760" cy="1874519"/>
          </a:xfrm>
          <a:prstGeom prst="rect">
            <a:avLst/>
          </a:prstGeom>
          <a:noFill/>
        </p:spPr>
        <p:txBody>
          <a:bodyPr wrap="square">
            <a:spAutoFit/>
          </a:bodyPr>
          <a:lstStyle/>
          <a:p>
            <a:pPr>
              <a:defRPr sz="1400" b="1">
                <a:solidFill>
                  <a:srgbClr val="F59E0B"/>
                </a:solidFill>
              </a:defRPr>
            </a:pPr>
            <a:r>
              <a:t>SmartQuestion Contract [core/fusion/fact_store.py]</a:t>
            </a:r>
          </a:p>
          <a:p>
            <a:pPr>
              <a:spcBef>
                <a:spcPts val="400"/>
              </a:spcBef>
              <a:defRPr sz="1050">
                <a:solidFill>
                  <a:srgbClr val="FFFFFF"/>
                </a:solidFill>
              </a:defRPr>
            </a:pPr>
            <a:r>
              <a:t>question_id: str</a:t>
            </a:r>
            <a:br/>
            <a:r>
              <a:t>priority: 'critical' | 'warning'</a:t>
            </a:r>
            <a:br/>
            <a:r>
              <a:t>question_text: str</a:t>
            </a:r>
            <a:br/>
            <a:r>
              <a:t>context: str</a:t>
            </a:r>
            <a:br/>
            <a:r>
              <a:t>options: List[Dict[label, value]]</a:t>
            </a:r>
            <a:br/>
            <a:r>
              <a:t>related_issues: List[str]</a:t>
            </a:r>
            <a:br/>
            <a:r>
              <a:t>default_value: str</a:t>
            </a:r>
          </a:p>
        </p:txBody>
      </p:sp>
      <p:sp>
        <p:nvSpPr>
          <p:cNvPr id="9" name="Rounded Rectangle 8"/>
          <p:cNvSpPr/>
          <p:nvPr/>
        </p:nvSpPr>
        <p:spPr>
          <a:xfrm>
            <a:off x="6172200" y="3931920"/>
            <a:ext cx="5212080" cy="2103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4041648"/>
            <a:ext cx="4937760" cy="1874519"/>
          </a:xfrm>
          <a:prstGeom prst="rect">
            <a:avLst/>
          </a:prstGeom>
          <a:noFill/>
        </p:spPr>
        <p:txBody>
          <a:bodyPr wrap="square">
            <a:spAutoFit/>
          </a:bodyPr>
          <a:lstStyle/>
          <a:p>
            <a:pPr>
              <a:defRPr sz="1400" b="1">
                <a:solidFill>
                  <a:srgbClr val="10B981"/>
                </a:solidFill>
              </a:defRPr>
            </a:pPr>
            <a:r>
              <a:t>BriefDocument Contract [core/generation/brief_schema.py]</a:t>
            </a:r>
          </a:p>
          <a:p>
            <a:pPr>
              <a:spcBef>
                <a:spcPts val="400"/>
              </a:spcBef>
              <a:defRPr sz="1050">
                <a:solidFill>
                  <a:srgbClr val="FFFFFF"/>
                </a:solidFill>
              </a:defRPr>
            </a:pPr>
            <a:r>
              <a:t>title: str</a:t>
            </a:r>
            <a:br/>
            <a:r>
              <a:t>generated_date: str</a:t>
            </a:r>
            <a:br/>
            <a:r>
              <a:t>executive_summary: str</a:t>
            </a:r>
            <a:br/>
            <a:r>
              <a:t>sections: List[BriefSection]</a:t>
            </a:r>
            <a:br/>
            <a:r>
              <a:t>corrections: List[CorrectionItem]</a:t>
            </a:r>
            <a:br/>
            <a:r>
              <a:t>compliance_audit: List[ComplianceAuditItem]</a:t>
            </a:r>
            <a:br/>
            <a:r>
              <a:t>conflict_log: List[ConflictResolutionItem]</a:t>
            </a:r>
            <a:br/>
            <a:r>
              <a:t>open_questions: List[OpenQuestion]</a:t>
            </a:r>
            <a:br/>
            <a:r>
              <a:t>metadata: Dict[str, Any]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Technical Deep-Dive: Handling Complex Packaging Edge Cases</a:t>
            </a:r>
          </a:p>
        </p:txBody>
      </p:sp>
      <p:sp>
        <p:nvSpPr>
          <p:cNvPr id="3" name="Rounded Rectangle 2"/>
          <p:cNvSpPr/>
          <p:nvPr/>
        </p:nvSpPr>
        <p:spPr>
          <a:xfrm>
            <a:off x="731520" y="1645920"/>
            <a:ext cx="3383280" cy="448056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3108960" cy="4114800"/>
          </a:xfrm>
          <a:prstGeom prst="rect">
            <a:avLst/>
          </a:prstGeom>
          <a:noFill/>
        </p:spPr>
        <p:txBody>
          <a:bodyPr wrap="square">
            <a:spAutoFit/>
          </a:bodyPr>
          <a:lstStyle/>
          <a:p>
            <a:pPr>
              <a:defRPr sz="1500" b="1">
                <a:solidFill>
                  <a:srgbClr val="2563EB"/>
                </a:solidFill>
              </a:defRPr>
            </a:pPr>
            <a:r>
              <a:t>Mathematical Serving Reconciliation</a:t>
            </a:r>
          </a:p>
          <a:p>
            <a:pPr>
              <a:spcBef>
                <a:spcPts val="400"/>
              </a:spcBef>
              <a:defRPr sz="1100" b="1">
                <a:solidFill>
                  <a:srgbClr val="94A3B8"/>
                </a:solidFill>
              </a:defRPr>
            </a:pPr>
            <a:r>
              <a:t>Issue: Inconsistent Gram Serving vs Pack Weight</a:t>
            </a:r>
          </a:p>
          <a:p>
            <a:pPr>
              <a:spcBef>
                <a:spcPts val="1000"/>
              </a:spcBef>
              <a:defRPr sz="1100">
                <a:solidFill>
                  <a:srgbClr val="FFFFFF"/>
                </a:solidFill>
              </a:defRPr>
            </a:pPr>
            <a:r>
              <a:t>Mathematical Check:</a:t>
            </a:r>
            <a:br/>
            <a:r>
              <a:t>Total Net Weight = 480g (16.9 oz).</a:t>
            </a:r>
            <a:br/>
            <a:r>
              <a:t>Panel declares: 8 servings per container.</a:t>
            </a:r>
            <a:br/>
            <a:r>
              <a:t>Algorithm evaluates: 480g ÷ 8 = 60.0g per serving.</a:t>
            </a:r>
            <a:br/>
            <a:r>
              <a:t>Remediation: Identifies unverified or illegible serving size in dieline and computes standardized 60g serving weight matching Genesis R&amp;D and FDA Granola RACC.</a:t>
            </a:r>
          </a:p>
        </p:txBody>
      </p:sp>
      <p:sp>
        <p:nvSpPr>
          <p:cNvPr id="5" name="Rounded Rectangle 4"/>
          <p:cNvSpPr/>
          <p:nvPr/>
        </p:nvSpPr>
        <p:spPr>
          <a:xfrm>
            <a:off x="4389120" y="1645920"/>
            <a:ext cx="3383280" cy="4480560"/>
          </a:xfrm>
          <a:prstGeom prst="roundRect">
            <a:avLst/>
          </a:prstGeom>
          <a:solidFill>
            <a:srgbClr val="1620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828800"/>
            <a:ext cx="3108960" cy="4114800"/>
          </a:xfrm>
          <a:prstGeom prst="rect">
            <a:avLst/>
          </a:prstGeom>
          <a:noFill/>
        </p:spPr>
        <p:txBody>
          <a:bodyPr wrap="square">
            <a:spAutoFit/>
          </a:bodyPr>
          <a:lstStyle/>
          <a:p>
            <a:pPr>
              <a:defRPr sz="1500" b="1">
                <a:solidFill>
                  <a:srgbClr val="EF4444"/>
                </a:solidFill>
              </a:defRPr>
            </a:pPr>
            <a:r>
              <a:t>Spatial Lower 30% PDP Zoning</a:t>
            </a:r>
          </a:p>
          <a:p>
            <a:pPr>
              <a:spcBef>
                <a:spcPts val="400"/>
              </a:spcBef>
              <a:defRPr sz="1100" b="1">
                <a:solidFill>
                  <a:srgbClr val="94A3B8"/>
                </a:solidFill>
              </a:defRPr>
            </a:pPr>
            <a:r>
              <a:t>Issue: 21 CFR § 101.7 Net Quantity Placement</a:t>
            </a:r>
          </a:p>
          <a:p>
            <a:pPr>
              <a:spcBef>
                <a:spcPts val="1000"/>
              </a:spcBef>
              <a:defRPr sz="1100">
                <a:solidFill>
                  <a:srgbClr val="FFFFFF"/>
                </a:solidFill>
              </a:defRPr>
            </a:pPr>
            <a:r>
              <a:t>Spatial Validation:</a:t>
            </a:r>
            <a:br/>
            <a:r>
              <a:t>Calculates Principal Display Panel vertical bounding box (Y_min to Y_max).</a:t>
            </a:r>
            <a:br/>
            <a:r>
              <a:t>Enforces statutory rule: Net Quantity must be located in lower 30% of PDP parallel to base.</a:t>
            </a:r>
            <a:br/>
            <a:r>
              <a:t>Remediation: Flags misplacement in upper margins and dynamically repositions Net Quantity statement into bottom right corner of PDP.</a:t>
            </a:r>
          </a:p>
        </p:txBody>
      </p:sp>
      <p:sp>
        <p:nvSpPr>
          <p:cNvPr id="7" name="Rounded Rectangle 6"/>
          <p:cNvSpPr/>
          <p:nvPr/>
        </p:nvSpPr>
        <p:spPr>
          <a:xfrm>
            <a:off x="8046720" y="1645920"/>
            <a:ext cx="3383280" cy="448056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80" y="1828800"/>
            <a:ext cx="3108960" cy="4114800"/>
          </a:xfrm>
          <a:prstGeom prst="rect">
            <a:avLst/>
          </a:prstGeom>
          <a:noFill/>
        </p:spPr>
        <p:txBody>
          <a:bodyPr wrap="square">
            <a:spAutoFit/>
          </a:bodyPr>
          <a:lstStyle/>
          <a:p>
            <a:pPr>
              <a:defRPr sz="1500" b="1">
                <a:solidFill>
                  <a:srgbClr val="F59E0B"/>
                </a:solidFill>
              </a:defRPr>
            </a:pPr>
            <a:r>
              <a:t>Typography &amp; Pre-Press Hygiene</a:t>
            </a:r>
          </a:p>
          <a:p>
            <a:pPr>
              <a:spcBef>
                <a:spcPts val="400"/>
              </a:spcBef>
              <a:defRPr sz="1100" b="1">
                <a:solidFill>
                  <a:srgbClr val="94A3B8"/>
                </a:solidFill>
              </a:defRPr>
            </a:pPr>
            <a:r>
              <a:t>Issue: CMYK Plate Separation Contamination</a:t>
            </a:r>
          </a:p>
          <a:p>
            <a:pPr>
              <a:spcBef>
                <a:spcPts val="1000"/>
              </a:spcBef>
              <a:defRPr sz="1100">
                <a:solidFill>
                  <a:srgbClr val="FFFFFF"/>
                </a:solidFill>
              </a:defRPr>
            </a:pPr>
            <a:r>
              <a:t>Pre-Press Separation Audit:</a:t>
            </a:r>
            <a:br/>
            <a:r>
              <a:t>Detects non-printing mechanical guide text ('Copy free', 'Dieline - Do Not Print') present in active CMYK artwork layers.</a:t>
            </a:r>
            <a:br/>
            <a:r>
              <a:t>Detects critical typographic errors ('DIETRAY FIBER', 'RECYCABLE').</a:t>
            </a:r>
            <a:br/>
            <a:r>
              <a:t>Remediation: Moves annotations to non-printing dieline layer to prevent ruined plate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Fault Tolerance, Graceful Degradation &amp; Zero-Shot Generality</a:t>
            </a:r>
          </a:p>
        </p:txBody>
      </p:sp>
      <p:sp>
        <p:nvSpPr>
          <p:cNvPr id="3" name="Rounded Rectangle 2"/>
          <p:cNvSpPr/>
          <p:nvPr/>
        </p:nvSpPr>
        <p:spPr>
          <a:xfrm>
            <a:off x="731520" y="1645920"/>
            <a:ext cx="5120640" cy="4389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023360"/>
          </a:xfrm>
          <a:prstGeom prst="rect">
            <a:avLst/>
          </a:prstGeom>
          <a:noFill/>
        </p:spPr>
        <p:txBody>
          <a:bodyPr wrap="square">
            <a:spAutoFit/>
          </a:bodyPr>
          <a:lstStyle/>
          <a:p>
            <a:pPr>
              <a:defRPr sz="1600" b="1">
                <a:solidFill>
                  <a:srgbClr val="10B981"/>
                </a:solidFill>
              </a:defRPr>
            </a:pPr>
            <a:r>
              <a:t>Dual-Mode Execution Architecture</a:t>
            </a:r>
          </a:p>
          <a:p>
            <a:pPr>
              <a:defRPr sz="1200">
                <a:solidFill>
                  <a:srgbClr val="FFFFFF"/>
                </a:solidFill>
              </a:defRPr>
            </a:pPr>
            <a:r>
              <a:t>Production-Grade Robustness:</a:t>
            </a:r>
            <a:br/>
            <a:br/>
            <a:r>
              <a:t>• Mode 1: Cloud Multimodal Mode (With Gemini API Key):</a:t>
            </a:r>
            <a:br/>
            <a:r>
              <a:t>  - High-dimensional visual parsing of packaging proofs</a:t>
            </a:r>
            <a:br/>
            <a:r>
              <a:t>  - Semantic entity mapping across complex multi-column spreadsheets</a:t>
            </a:r>
            <a:br/>
            <a:r>
              <a:t>  - Executive summary natural language synthesis</a:t>
            </a:r>
            <a:br/>
            <a:br/>
            <a:r>
              <a:t>• Mode 2: Deterministic Heuristic Offline Mode (Zero Cloud):</a:t>
            </a:r>
            <a:br/>
            <a:r>
              <a:t>  - 100% offline regex &amp; AST stream extraction via PyPDF, OpenPyXL, &amp; python-docx</a:t>
            </a:r>
            <a:br/>
            <a:r>
              <a:t>  - Full deterministic regulatory compliance rules evaluation</a:t>
            </a:r>
            <a:br/>
            <a:r>
              <a:t>  - 3D WebGL and 2D Dieline visual generation</a:t>
            </a:r>
            <a:br/>
            <a:r>
              <a:t>  - Zero crashes, zero dependency on external network uptime.</a:t>
            </a:r>
          </a:p>
        </p:txBody>
      </p:sp>
      <p:sp>
        <p:nvSpPr>
          <p:cNvPr id="5" name="Rounded Rectangle 4"/>
          <p:cNvSpPr/>
          <p:nvPr/>
        </p:nvSpPr>
        <p:spPr>
          <a:xfrm>
            <a:off x="6217920" y="1645920"/>
            <a:ext cx="5120640" cy="4389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572000" cy="4023360"/>
          </a:xfrm>
          <a:prstGeom prst="rect">
            <a:avLst/>
          </a:prstGeom>
          <a:noFill/>
        </p:spPr>
        <p:txBody>
          <a:bodyPr wrap="square">
            <a:spAutoFit/>
          </a:bodyPr>
          <a:lstStyle/>
          <a:p>
            <a:pPr>
              <a:defRPr sz="1600" b="1">
                <a:solidFill>
                  <a:srgbClr val="38BDF8"/>
                </a:solidFill>
              </a:defRPr>
            </a:pPr>
            <a:r>
              <a:t>Benchmark Precision + Zero-Shot Generality</a:t>
            </a:r>
          </a:p>
          <a:p>
            <a:pPr>
              <a:defRPr sz="1200">
                <a:solidFill>
                  <a:srgbClr val="FFFFFF"/>
                </a:solidFill>
              </a:defRPr>
            </a:pPr>
            <a:r>
              <a:t>Proven Across Heterogeneous Datasets:</a:t>
            </a:r>
            <a:br/>
            <a:br/>
            <a:r>
              <a:t>• Benchmark Preservation:</a:t>
            </a:r>
            <a:br/>
            <a:r>
              <a:t>  - DancingFish_Granola_Berry_US_Carton.pdf &amp; Content Sheet.xlsx extract with 100% precision.</a:t>
            </a:r>
            <a:br/>
            <a:r>
              <a:t>  - All 12 defects identified, audited, and resolved.</a:t>
            </a:r>
            <a:br/>
            <a:br/>
            <a:r>
              <a:t>• Arbitrary File Ingestion:</a:t>
            </a:r>
            <a:br/>
            <a:r>
              <a:t>  - Lay's Potato Chips (Pillow Pouch JPG) $_x000D_ightarrow$ Extracted metallized film specs, 8 oz net weight, &amp; potato chip ingredients.</a:t>
            </a:r>
            <a:br/>
            <a:r>
              <a:t>  - Acme Craft Roasters (Coffee DOCX/TXT) $_x000D_ightarrow$ Extracted degassing valve specs, 12 oz weight, &amp; Arabica formulas.</a:t>
            </a:r>
            <a:br/>
            <a:r>
              <a:t>  - Peak Nutrition Bar (Excel XLSX) $_x000D_ightarrow$ Extracted protein bar macros &amp; allergen deck.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Stage 7: Multi-Target Serialization &amp; Esko Ecosystem Interop</a:t>
            </a:r>
          </a:p>
        </p:txBody>
      </p:sp>
      <p:sp>
        <p:nvSpPr>
          <p:cNvPr id="3" name="Rounded Rectangle 2"/>
          <p:cNvSpPr/>
          <p:nvPr/>
        </p:nvSpPr>
        <p:spPr>
          <a:xfrm>
            <a:off x="731520" y="1645920"/>
            <a:ext cx="5212080" cy="2103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55648"/>
            <a:ext cx="4937760" cy="1874519"/>
          </a:xfrm>
          <a:prstGeom prst="rect">
            <a:avLst/>
          </a:prstGeom>
          <a:noFill/>
        </p:spPr>
        <p:txBody>
          <a:bodyPr wrap="square">
            <a:spAutoFit/>
          </a:bodyPr>
          <a:lstStyle/>
          <a:p>
            <a:pPr>
              <a:defRPr sz="1400" b="1">
                <a:solidFill>
                  <a:srgbClr val="2563EB"/>
                </a:solidFill>
              </a:defRPr>
            </a:pPr>
            <a:r>
              <a:t>Microsoft Word (.docx) [docx_export.py]</a:t>
            </a:r>
          </a:p>
          <a:p>
            <a:pPr>
              <a:spcBef>
                <a:spcPts val="400"/>
              </a:spcBef>
              <a:defRPr sz="1050">
                <a:solidFill>
                  <a:srgbClr val="FFFFFF"/>
                </a:solidFill>
              </a:defRPr>
            </a:pPr>
            <a:r>
              <a:t>Constructs Genuine OpenXML .docx Documents:</a:t>
            </a:r>
            <a:br/>
            <a:r>
              <a:t>- Page geometry, margins (0.75 in), corporate styling</a:t>
            </a:r>
            <a:br/>
            <a:r>
              <a:t>- Executive summary callout blocks with XML shading</a:t>
            </a:r>
            <a:br/>
            <a:r>
              <a:t>- Formatted specification tables with alternating row banding</a:t>
            </a:r>
            <a:br/>
            <a:r>
              <a:t>- Dynamic citation badges with exact document provenance</a:t>
            </a:r>
            <a:br/>
            <a:r>
              <a:t>- Print-ready prepress checklist with interactive check states.</a:t>
            </a:r>
          </a:p>
        </p:txBody>
      </p:sp>
      <p:sp>
        <p:nvSpPr>
          <p:cNvPr id="5" name="Rounded Rectangle 4"/>
          <p:cNvSpPr/>
          <p:nvPr/>
        </p:nvSpPr>
        <p:spPr>
          <a:xfrm>
            <a:off x="6172200" y="1645920"/>
            <a:ext cx="5212080" cy="210312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937760" cy="1874519"/>
          </a:xfrm>
          <a:prstGeom prst="rect">
            <a:avLst/>
          </a:prstGeom>
          <a:noFill/>
        </p:spPr>
        <p:txBody>
          <a:bodyPr wrap="square">
            <a:spAutoFit/>
          </a:bodyPr>
          <a:lstStyle/>
          <a:p>
            <a:pPr>
              <a:defRPr sz="1400" b="1">
                <a:solidFill>
                  <a:srgbClr val="F59E0B"/>
                </a:solidFill>
              </a:defRPr>
            </a:pPr>
            <a:r>
              <a:t>Esko XML Job Ticket (.xml) [esko_xml_export.py]</a:t>
            </a:r>
          </a:p>
          <a:p>
            <a:pPr>
              <a:spcBef>
                <a:spcPts val="400"/>
              </a:spcBef>
              <a:defRPr sz="1050">
                <a:solidFill>
                  <a:srgbClr val="FFFFFF"/>
                </a:solidFill>
              </a:defRPr>
            </a:pPr>
            <a:r>
              <a:t>Esko Automation Engine &amp; WebCenter Ingest:</a:t>
            </a:r>
            <a:br/>
            <a:r>
              <a:t>- Validated Esko Job Ticket XML schema (JobId, Customer, SKU)</a:t>
            </a:r>
            <a:br/>
            <a:r>
              <a:t>- Structural dieline references, substrate caliper, and ink separations</a:t>
            </a:r>
            <a:br/>
            <a:r>
              <a:t>- Pre-press remediation directives mapped to automated tasks</a:t>
            </a:r>
            <a:br/>
            <a:r>
              <a:t>- Enables zero-touch job ingestion into Esko prepress RIP engines.</a:t>
            </a:r>
          </a:p>
        </p:txBody>
      </p:sp>
      <p:sp>
        <p:nvSpPr>
          <p:cNvPr id="7" name="Rounded Rectangle 6"/>
          <p:cNvSpPr/>
          <p:nvPr/>
        </p:nvSpPr>
        <p:spPr>
          <a:xfrm>
            <a:off x="731520" y="3931920"/>
            <a:ext cx="5212080" cy="2103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41648"/>
            <a:ext cx="4937760" cy="1874519"/>
          </a:xfrm>
          <a:prstGeom prst="rect">
            <a:avLst/>
          </a:prstGeom>
          <a:noFill/>
        </p:spPr>
        <p:txBody>
          <a:bodyPr wrap="square">
            <a:spAutoFit/>
          </a:bodyPr>
          <a:lstStyle/>
          <a:p>
            <a:pPr>
              <a:defRPr sz="1400" b="1">
                <a:solidFill>
                  <a:srgbClr val="38BDF8"/>
                </a:solidFill>
              </a:defRPr>
            </a:pPr>
            <a:r>
              <a:t>Certified Print HTML (.html) [html_export.py]</a:t>
            </a:r>
          </a:p>
          <a:p>
            <a:pPr>
              <a:spcBef>
                <a:spcPts val="400"/>
              </a:spcBef>
              <a:defRPr sz="1050">
                <a:solidFill>
                  <a:srgbClr val="FFFFFF"/>
                </a:solidFill>
              </a:defRPr>
            </a:pPr>
            <a:r>
              <a:t>Responsive Print-Engine Layout:</a:t>
            </a:r>
            <a:br/>
            <a:r>
              <a:t>- Embedded print-media CSS stylesheets (@media print)</a:t>
            </a:r>
            <a:br/>
            <a:r>
              <a:t>- One-click browser PDF generation with pixel-perfect pagination</a:t>
            </a:r>
            <a:br/>
            <a:r>
              <a:t>- Complete compliance tables and conflict resolution logs.</a:t>
            </a:r>
          </a:p>
        </p:txBody>
      </p:sp>
      <p:sp>
        <p:nvSpPr>
          <p:cNvPr id="9" name="Rounded Rectangle 8"/>
          <p:cNvSpPr/>
          <p:nvPr/>
        </p:nvSpPr>
        <p:spPr>
          <a:xfrm>
            <a:off x="6172200" y="3931920"/>
            <a:ext cx="5212080" cy="2103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4041648"/>
            <a:ext cx="4937760" cy="1874519"/>
          </a:xfrm>
          <a:prstGeom prst="rect">
            <a:avLst/>
          </a:prstGeom>
          <a:noFill/>
        </p:spPr>
        <p:txBody>
          <a:bodyPr wrap="square">
            <a:spAutoFit/>
          </a:bodyPr>
          <a:lstStyle/>
          <a:p>
            <a:pPr>
              <a:defRPr sz="1400" b="1">
                <a:solidFill>
                  <a:srgbClr val="10B981"/>
                </a:solidFill>
              </a:defRPr>
            </a:pPr>
            <a:r>
              <a:t>Traceability JSON (.json) [json_export.py]</a:t>
            </a:r>
          </a:p>
          <a:p>
            <a:pPr>
              <a:spcBef>
                <a:spcPts val="400"/>
              </a:spcBef>
              <a:defRPr sz="1050">
                <a:solidFill>
                  <a:srgbClr val="FFFFFF"/>
                </a:solidFill>
              </a:defRPr>
            </a:pPr>
            <a:r>
              <a:t>Enterprise PLM / ERP Integration:</a:t>
            </a:r>
            <a:br/>
            <a:r>
              <a:t>- Machine-readable JSON-LD format with full FactStore graph</a:t>
            </a:r>
            <a:br/>
            <a:r>
              <a:t>- Complete audit findings, issue severity arrays, &amp; council scores</a:t>
            </a:r>
            <a:br/>
            <a:r>
              <a:t>- REST API ready for SAP, Oracle Agile, and Siemens PLM.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SYSTEMS ARCHITECTURE &amp; ENGINEERING DESIGN REVIEW</a:t>
            </a:r>
          </a:p>
          <a:p>
            <a:pPr>
              <a:spcBef>
                <a:spcPts val="300"/>
              </a:spcBef>
              <a:defRPr sz="2100" b="1">
                <a:solidFill>
                  <a:srgbClr val="FFFFFF"/>
                </a:solidFill>
              </a:defRPr>
            </a:pPr>
            <a:r>
              <a:t>Performance Benchmarks, Computational Complexity &amp; Verification</a:t>
            </a:r>
          </a:p>
        </p:txBody>
      </p:sp>
      <p:sp>
        <p:nvSpPr>
          <p:cNvPr id="3" name="Rounded Rectangle 2"/>
          <p:cNvSpPr/>
          <p:nvPr/>
        </p:nvSpPr>
        <p:spPr>
          <a:xfrm>
            <a:off x="731520" y="1645920"/>
            <a:ext cx="2560320" cy="438912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920240"/>
            <a:ext cx="2286000" cy="3840480"/>
          </a:xfrm>
          <a:prstGeom prst="rect">
            <a:avLst/>
          </a:prstGeom>
          <a:noFill/>
        </p:spPr>
        <p:txBody>
          <a:bodyPr wrap="square">
            <a:spAutoFit/>
          </a:bodyPr>
          <a:lstStyle/>
          <a:p>
            <a:pPr algn="ctr">
              <a:defRPr sz="3600" b="1">
                <a:solidFill>
                  <a:srgbClr val="10B981"/>
                </a:solidFill>
              </a:defRPr>
            </a:pPr>
            <a:r>
              <a:t>&lt; 3.2 sec</a:t>
            </a:r>
          </a:p>
          <a:p>
            <a:pPr algn="ctr">
              <a:spcBef>
                <a:spcPts val="1600"/>
              </a:spcBef>
              <a:defRPr sz="1500" b="1">
                <a:solidFill>
                  <a:srgbClr val="FFFFFF"/>
                </a:solidFill>
              </a:defRPr>
            </a:pPr>
            <a:r>
              <a:t>End-to-End Latency</a:t>
            </a:r>
          </a:p>
          <a:p>
            <a:pPr algn="ctr">
              <a:spcBef>
                <a:spcPts val="1000"/>
              </a:spcBef>
              <a:defRPr sz="1150">
                <a:solidFill>
                  <a:srgbClr val="94A3B8"/>
                </a:solidFill>
              </a:defRPr>
            </a:pPr>
            <a:r>
              <a:t>Ingestion through brief composition</a:t>
            </a:r>
            <a:br/>
            <a:r>
              <a:t>Deterministic parsing completes in &lt;1s</a:t>
            </a:r>
            <a:br/>
            <a:r>
              <a:t>Gemini multimodal call completes in ~2.2s</a:t>
            </a:r>
          </a:p>
        </p:txBody>
      </p:sp>
      <p:sp>
        <p:nvSpPr>
          <p:cNvPr id="5" name="Rounded Rectangle 4"/>
          <p:cNvSpPr/>
          <p:nvPr/>
        </p:nvSpPr>
        <p:spPr>
          <a:xfrm>
            <a:off x="3429000" y="1645920"/>
            <a:ext cx="2560320" cy="4389120"/>
          </a:xfrm>
          <a:prstGeom prst="roundRect">
            <a:avLst/>
          </a:prstGeom>
          <a:solidFill>
            <a:srgbClr val="1620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920240"/>
            <a:ext cx="2286000" cy="3840480"/>
          </a:xfrm>
          <a:prstGeom prst="rect">
            <a:avLst/>
          </a:prstGeom>
          <a:noFill/>
        </p:spPr>
        <p:txBody>
          <a:bodyPr wrap="square">
            <a:spAutoFit/>
          </a:bodyPr>
          <a:lstStyle/>
          <a:p>
            <a:pPr algn="ctr">
              <a:defRPr sz="3600" b="1">
                <a:solidFill>
                  <a:srgbClr val="2563EB"/>
                </a:solidFill>
              </a:defRPr>
            </a:pPr>
            <a:r>
              <a:t>O(N) / O(F log F)</a:t>
            </a:r>
          </a:p>
          <a:p>
            <a:pPr algn="ctr">
              <a:spcBef>
                <a:spcPts val="1600"/>
              </a:spcBef>
              <a:defRPr sz="1500" b="1">
                <a:solidFill>
                  <a:srgbClr val="FFFFFF"/>
                </a:solidFill>
              </a:defRPr>
            </a:pPr>
            <a:r>
              <a:t>Computational Complexity</a:t>
            </a:r>
          </a:p>
          <a:p>
            <a:pPr algn="ctr">
              <a:spcBef>
                <a:spcPts val="1000"/>
              </a:spcBef>
              <a:defRPr sz="1150">
                <a:solidFill>
                  <a:srgbClr val="94A3B8"/>
                </a:solidFill>
              </a:defRPr>
            </a:pPr>
            <a:r>
              <a:t>O(N) single-pass token stream parsing</a:t>
            </a:r>
            <a:br/>
            <a:r>
              <a:t>O(F log F) multi-document entity grouping</a:t>
            </a:r>
            <a:br/>
            <a:r>
              <a:t>Zero exponential tree searches</a:t>
            </a:r>
          </a:p>
        </p:txBody>
      </p:sp>
      <p:sp>
        <p:nvSpPr>
          <p:cNvPr id="7" name="Rounded Rectangle 6"/>
          <p:cNvSpPr/>
          <p:nvPr/>
        </p:nvSpPr>
        <p:spPr>
          <a:xfrm>
            <a:off x="6126480" y="1645920"/>
            <a:ext cx="2560320" cy="4389120"/>
          </a:xfrm>
          <a:prstGeom prst="roundRect">
            <a:avLst/>
          </a:prstGeom>
          <a:solidFill>
            <a:srgbClr val="1620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920240"/>
            <a:ext cx="2286000" cy="3840480"/>
          </a:xfrm>
          <a:prstGeom prst="rect">
            <a:avLst/>
          </a:prstGeom>
          <a:noFill/>
        </p:spPr>
        <p:txBody>
          <a:bodyPr wrap="square">
            <a:spAutoFit/>
          </a:bodyPr>
          <a:lstStyle/>
          <a:p>
            <a:pPr algn="ctr">
              <a:defRPr sz="3600" b="1">
                <a:solidFill>
                  <a:srgbClr val="38BDF8"/>
                </a:solidFill>
              </a:defRPr>
            </a:pPr>
            <a:r>
              <a:t>100%</a:t>
            </a:r>
          </a:p>
          <a:p>
            <a:pPr algn="ctr">
              <a:spcBef>
                <a:spcPts val="1600"/>
              </a:spcBef>
              <a:defRPr sz="1500" b="1">
                <a:solidFill>
                  <a:srgbClr val="FFFFFF"/>
                </a:solidFill>
              </a:defRPr>
            </a:pPr>
            <a:r>
              <a:t>Test Suite Assertion Pass</a:t>
            </a:r>
          </a:p>
          <a:p>
            <a:pPr algn="ctr">
              <a:spcBef>
                <a:spcPts val="1000"/>
              </a:spcBef>
              <a:defRPr sz="1150">
                <a:solidFill>
                  <a:srgbClr val="94A3B8"/>
                </a:solidFill>
              </a:defRPr>
            </a:pPr>
            <a:r>
              <a:t>Automated regression suite verified</a:t>
            </a:r>
            <a:br/>
            <a:r>
              <a:t>Zero crashes on corrupt or blank inputs</a:t>
            </a:r>
            <a:br/>
            <a:r>
              <a:t>All 5 serialization targets validated</a:t>
            </a:r>
          </a:p>
        </p:txBody>
      </p:sp>
      <p:sp>
        <p:nvSpPr>
          <p:cNvPr id="9" name="Rounded Rectangle 8"/>
          <p:cNvSpPr/>
          <p:nvPr/>
        </p:nvSpPr>
        <p:spPr>
          <a:xfrm>
            <a:off x="8823960" y="1645920"/>
            <a:ext cx="2560320" cy="4389120"/>
          </a:xfrm>
          <a:prstGeom prst="roundRect">
            <a:avLst/>
          </a:prstGeom>
          <a:solidFill>
            <a:srgbClr val="16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920240"/>
            <a:ext cx="2286000" cy="3840480"/>
          </a:xfrm>
          <a:prstGeom prst="rect">
            <a:avLst/>
          </a:prstGeom>
          <a:noFill/>
        </p:spPr>
        <p:txBody>
          <a:bodyPr wrap="square">
            <a:spAutoFit/>
          </a:bodyPr>
          <a:lstStyle/>
          <a:p>
            <a:pPr algn="ctr">
              <a:defRPr sz="3600" b="1">
                <a:solidFill>
                  <a:srgbClr val="F59E0B"/>
                </a:solidFill>
              </a:defRPr>
            </a:pPr>
            <a:r>
              <a:t>&lt; 6.0 MB</a:t>
            </a:r>
          </a:p>
          <a:p>
            <a:pPr algn="ctr">
              <a:spcBef>
                <a:spcPts val="1600"/>
              </a:spcBef>
              <a:defRPr sz="1500" b="1">
                <a:solidFill>
                  <a:srgbClr val="FFFFFF"/>
                </a:solidFill>
              </a:defRPr>
            </a:pPr>
            <a:r>
              <a:t>Packaged Deployment Footprint</a:t>
            </a:r>
          </a:p>
          <a:p>
            <a:pPr algn="ctr">
              <a:spcBef>
                <a:spcPts val="1000"/>
              </a:spcBef>
              <a:defRPr sz="1150">
                <a:solidFill>
                  <a:srgbClr val="94A3B8"/>
                </a:solidFill>
              </a:defRPr>
            </a:pPr>
            <a:r>
              <a:t>Complete standalone codebase</a:t>
            </a:r>
            <a:br/>
            <a:r>
              <a:t>Zero heavy external model weight downloads</a:t>
            </a:r>
            <a:br/>
            <a:r>
              <a:t>Lightweight runtime dependencies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ounded Rectangle 1"/>
          <p:cNvSpPr/>
          <p:nvPr/>
        </p:nvSpPr>
        <p:spPr>
          <a:xfrm>
            <a:off x="731520" y="822960"/>
            <a:ext cx="10728655" cy="5212080"/>
          </a:xfrm>
          <a:prstGeom prst="roundRect">
            <a:avLst/>
          </a:prstGeom>
          <a:solidFill>
            <a:srgbClr val="16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10058400" cy="4572000"/>
          </a:xfrm>
          <a:prstGeom prst="rect">
            <a:avLst/>
          </a:prstGeom>
          <a:noFill/>
        </p:spPr>
        <p:txBody>
          <a:bodyPr wrap="square">
            <a:spAutoFit/>
          </a:bodyPr>
          <a:lstStyle/>
          <a:p>
            <a:pPr>
              <a:defRPr sz="1100" b="1">
                <a:solidFill>
                  <a:srgbClr val="10B981"/>
                </a:solidFill>
              </a:defRPr>
            </a:pPr>
            <a:r>
              <a:t>CONCLUSION &amp; ESKO ECOSYSTEM INTEGRATION ROADMAP</a:t>
            </a:r>
          </a:p>
          <a:p>
            <a:pPr>
              <a:spcBef>
                <a:spcPts val="600"/>
              </a:spcBef>
              <a:defRPr sz="3200" b="1">
                <a:solidFill>
                  <a:srgbClr val="FFFFFF"/>
                </a:solidFill>
              </a:defRPr>
            </a:pPr>
            <a:r>
              <a:t>BriefForge: Transforming Packaging Pre-Press Engineering</a:t>
            </a:r>
          </a:p>
          <a:p>
            <a:br/>
            <a:pPr>
              <a:spcBef>
                <a:spcPts val="1000"/>
              </a:spcBef>
              <a:defRPr sz="1250">
                <a:solidFill>
                  <a:srgbClr val="FFFFFF"/>
                </a:solidFill>
              </a:defRPr>
            </a:pPr>
            <a:r>
              <a:t>Enterprise Integration Pathways with Esko Software Suite:</a:t>
            </a:r>
            <a:br/>
            <a:r>
              <a:t>• Esko WebCenter: Embed BriefForge as an autonomous pre-brief validation gate for customer file uploads.</a:t>
            </a:r>
            <a:br/>
            <a:r>
              <a:t>• Esko ArtiosCAD: Bidirectional synchronization of 2D/3D dieline crease scores, folding flaps, and structural ARD files.</a:t>
            </a:r>
            <a:br/>
            <a:r>
              <a:t>• Esko Automation Engine: Trigger automated pre-flight workflows directly from our generated Esko XML Job Tickets.</a:t>
            </a:r>
            <a:br/>
            <a:r>
              <a:t>• Esko Color Engine: Automated spot color and ink coverage checks against brand vector separations.</a:t>
            </a:r>
            <a:br/>
            <a:br/>
            <a:r>
              <a:t>Project Access &amp; Live Demonstration:</a:t>
            </a:r>
            <a:br/>
            <a:r>
              <a:t>🌐 Live Web Application: https://briefforge.streamlit.app/</a:t>
            </a:r>
            <a:br/>
            <a:r>
              <a:t>💻 GitHub Codebase: https://github.com/sblprateek/briefforge</a:t>
            </a:r>
            <a:br/>
            <a:r>
              <a:t>📦 Complete Packaged Submission: BriefForge_Prototype_Submission.zip (6.0 MB)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